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99" r:id="rId3"/>
    <p:sldId id="298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51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1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15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microsoft.com/office/2007/relationships/hdphoto" Target="../media/hdphoto1.wdp"/><Relationship Id="rId19" Type="http://schemas.openxmlformats.org/officeDocument/2006/relationships/image" Target="../media/image20.png"/><Relationship Id="rId4" Type="http://schemas.openxmlformats.org/officeDocument/2006/relationships/image" Target="../media/image4.png"/><Relationship Id="rId9" Type="http://schemas.openxmlformats.org/officeDocument/2006/relationships/image" Target="../media/image13.png"/><Relationship Id="rId1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005374" y="1038253"/>
            <a:ext cx="1944185" cy="2079356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411480" y="648614"/>
            <a:ext cx="6263640" cy="1752600"/>
          </a:xfrm>
        </p:spPr>
        <p:txBody>
          <a:bodyPr/>
          <a:lstStyle/>
          <a:p>
            <a:pPr algn="l"/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4000" b="1" dirty="0">
                <a:solidFill>
                  <a:srgbClr val="375C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JeevSetu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1350" b="1" i="0" dirty="0">
                <a:solidFill>
                  <a:srgbClr val="524E47"/>
                </a:solidFill>
                <a:latin typeface="Arial"/>
              </a:rPr>
              <a:t>Multilingual, Offline-First Livestock Health Surveillance &amp; Outbreak Early-Warning Platform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None/>
            </a:pPr>
            <a:endParaRPr sz="1000" b="0" i="1" dirty="0">
              <a:solidFill>
                <a:srgbClr val="686259"/>
              </a:solidFill>
              <a:latin typeface="Arial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441234"/>
            <a:ext cx="5924550" cy="2876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sz="1400" b="0" dirty="0">
                <a:solidFill>
                  <a:srgbClr val="3C3934"/>
                </a:solidFill>
                <a:latin typeface="Arial"/>
              </a:rPr>
              <a:t> </a:t>
            </a:r>
            <a:r>
              <a:rPr lang="en-IN" sz="1400" b="0" dirty="0">
                <a:solidFill>
                  <a:srgbClr val="3C3934"/>
                </a:solidFill>
                <a:latin typeface="Arial"/>
              </a:rPr>
              <a:t>SIH</a:t>
            </a:r>
            <a:r>
              <a:rPr sz="1400" b="0" dirty="0">
                <a:solidFill>
                  <a:srgbClr val="3C3934"/>
                </a:solidFill>
                <a:latin typeface="Arial"/>
              </a:rPr>
              <a:t>26128</a:t>
            </a:r>
          </a:p>
          <a:p>
            <a:pPr marL="285750" indent="-285750" algn="just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sz="1200" b="0" dirty="0">
                <a:solidFill>
                  <a:srgbClr val="3C3934"/>
                </a:solidFill>
                <a:latin typeface="Arial"/>
              </a:rPr>
              <a:t> </a:t>
            </a:r>
            <a:r>
              <a:rPr sz="1400" b="0" dirty="0">
                <a:solidFill>
                  <a:srgbClr val="3C3934"/>
                </a:solidFill>
                <a:latin typeface="Arial"/>
              </a:rPr>
              <a:t>Efficient systems for early detection, prevention, and management of livestock diseases and animal health issues</a:t>
            </a:r>
          </a:p>
          <a:p>
            <a:pPr marL="285750" indent="-285750" algn="just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sz="1400" b="0" dirty="0">
                <a:solidFill>
                  <a:srgbClr val="3C3934"/>
                </a:solidFill>
                <a:latin typeface="Arial"/>
              </a:rPr>
              <a:t> MedTech / </a:t>
            </a:r>
            <a:r>
              <a:rPr sz="1400" b="0" dirty="0" err="1">
                <a:solidFill>
                  <a:srgbClr val="3C3934"/>
                </a:solidFill>
                <a:latin typeface="Arial"/>
              </a:rPr>
              <a:t>BioTech</a:t>
            </a:r>
            <a:r>
              <a:rPr sz="1400" b="0" dirty="0">
                <a:solidFill>
                  <a:srgbClr val="3C3934"/>
                </a:solidFill>
                <a:latin typeface="Arial"/>
              </a:rPr>
              <a:t> / HealthTech</a:t>
            </a:r>
          </a:p>
          <a:p>
            <a:pPr marL="285750" indent="-285750" algn="just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sz="1400" b="0" dirty="0">
                <a:solidFill>
                  <a:srgbClr val="3C3934"/>
                </a:solidFill>
                <a:latin typeface="Arial"/>
              </a:rPr>
              <a:t> AUS_SIH26_130</a:t>
            </a:r>
          </a:p>
          <a:p>
            <a:pPr marL="285750" indent="-285750" algn="just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r>
              <a:rPr sz="1400" b="0" dirty="0">
                <a:solidFill>
                  <a:srgbClr val="3C3934"/>
                </a:solidFill>
                <a:latin typeface="Arial"/>
              </a:rPr>
              <a:t> – </a:t>
            </a:r>
            <a:r>
              <a:rPr sz="1400" b="0" dirty="0" err="1">
                <a:solidFill>
                  <a:srgbClr val="3C3934"/>
                </a:solidFill>
                <a:latin typeface="Arial"/>
              </a:rPr>
              <a:t>ChaoTics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6" name="Picture 5" descr="shot_crop.png">
            <a:extLst>
              <a:ext uri="{FF2B5EF4-FFF2-40B4-BE49-F238E27FC236}">
                <a16:creationId xmlns:a16="http://schemas.microsoft.com/office/drawing/2014/main" id="{CB980786-3608-D00C-241E-94093591D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3873" y="3389325"/>
            <a:ext cx="4340399" cy="3164272"/>
          </a:xfrm>
          <a:prstGeom prst="rect">
            <a:avLst/>
          </a:prstGeom>
        </p:spPr>
      </p:pic>
      <p:sp>
        <p:nvSpPr>
          <p:cNvPr id="9" name="Rounded Rectangle 15428">
            <a:extLst>
              <a:ext uri="{FF2B5EF4-FFF2-40B4-BE49-F238E27FC236}">
                <a16:creationId xmlns:a16="http://schemas.microsoft.com/office/drawing/2014/main" id="{48E8EB67-D365-9972-B12F-6DAE9C65FE60}"/>
              </a:ext>
            </a:extLst>
          </p:cNvPr>
          <p:cNvSpPr/>
          <p:nvPr/>
        </p:nvSpPr>
        <p:spPr>
          <a:xfrm>
            <a:off x="7483873" y="3389325"/>
            <a:ext cx="4339217" cy="3164272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BEB8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E2AD53-DB57-8A62-8FD4-4C7B490B3C6E}"/>
              </a:ext>
            </a:extLst>
          </p:cNvPr>
          <p:cNvSpPr txBox="1"/>
          <p:nvPr/>
        </p:nvSpPr>
        <p:spPr>
          <a:xfrm>
            <a:off x="529257" y="5975044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 dirty="0">
                <a:solidFill>
                  <a:srgbClr val="827B6F"/>
                </a:solidFill>
                <a:latin typeface="Arial"/>
              </a:rPr>
              <a:t>Government of Maharashtra — Maharashtra State Innovation Society,</a:t>
            </a:r>
          </a:p>
          <a:p>
            <a:pPr algn="l">
              <a:lnSpc>
                <a:spcPct val="110000"/>
              </a:lnSpc>
            </a:pPr>
            <a:r>
              <a:rPr sz="1050" b="0" i="1" dirty="0">
                <a:solidFill>
                  <a:srgbClr val="827B6F"/>
                </a:solidFill>
                <a:latin typeface="Arial"/>
              </a:rPr>
              <a:t>Dept. of Skills, Employment, Entrepreneurship &amp;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accent5">
                    <a:lumMod val="75000"/>
                  </a:schemeClr>
                </a:solidFill>
                <a:latin typeface="Niagara Solid" panose="04020502070702020202" pitchFamily="82" charset="0"/>
                <a:cs typeface="Aldhabi" panose="020F0502020204030204" pitchFamily="2" charset="-78"/>
              </a:rPr>
              <a:t>ChaoTics</a:t>
            </a:r>
            <a:endParaRPr lang="en-IN" sz="2400" dirty="0">
              <a:solidFill>
                <a:schemeClr val="accent5">
                  <a:lumMod val="75000"/>
                </a:schemeClr>
              </a:solidFill>
              <a:latin typeface="Niagara Solid" panose="04020502070702020202" pitchFamily="82" charset="0"/>
              <a:cs typeface="Aldhabi" panose="020F0502020204030204" pitchFamily="2" charset="-78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65760" y="1243584"/>
            <a:ext cx="11457432" cy="384048"/>
          </a:xfrm>
          <a:prstGeom prst="roundRect">
            <a:avLst>
              <a:gd name="adj" fmla="val 20000"/>
            </a:avLst>
          </a:prstGeom>
          <a:solidFill>
            <a:srgbClr val="ED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228600" rtlCol="0" anchor="ctr"/>
          <a:lstStyle/>
          <a:p>
            <a:pPr algn="ctr"/>
            <a:r>
              <a:rPr sz="1050" b="1">
                <a:solidFill>
                  <a:srgbClr val="C2362B"/>
                </a:solidFill>
                <a:latin typeface="Arial"/>
              </a:rPr>
              <a:t>PROBLEM:  </a:t>
            </a:r>
            <a:r>
              <a:rPr sz="1050">
                <a:solidFill>
                  <a:srgbClr val="2B2925"/>
                </a:solidFill>
                <a:latin typeface="Arial"/>
              </a:rPr>
              <a:t>Sick/dying livestock go unreported for days — language barriers, low literacy, patchy connectivity  ►  </a:t>
            </a:r>
            <a:r>
              <a:rPr sz="1050" b="1">
                <a:solidFill>
                  <a:srgbClr val="375C24"/>
                </a:solidFill>
                <a:latin typeface="Arial"/>
              </a:rPr>
              <a:t>OUTCOME:  </a:t>
            </a:r>
            <a:r>
              <a:rPr sz="1050">
                <a:solidFill>
                  <a:srgbClr val="2B2925"/>
                </a:solidFill>
                <a:latin typeface="Arial"/>
              </a:rPr>
              <a:t>faster escalation &amp; district-level disease visibility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4860036" y="1719072"/>
            <a:ext cx="2468880" cy="457200"/>
          </a:xfrm>
          <a:prstGeom prst="roundRect">
            <a:avLst>
              <a:gd name="adj" fmla="val 18000"/>
            </a:avLst>
          </a:prstGeom>
          <a:solidFill>
            <a:srgbClr val="375C24"/>
          </a:solidFill>
          <a:ln>
            <a:noFill/>
          </a:ln>
          <a:effectLst>
            <a:outerShdw blurRad="54864" dist="27432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JEEVSETU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365760" y="2322576"/>
            <a:ext cx="3605784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780">
            <a:solidFill>
              <a:srgbClr val="5A943C"/>
            </a:solidFill>
          </a:ln>
          <a:effectLst>
            <a:outerShdw blurRad="54864" dist="27432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5" name="Oval 15364"/>
          <p:cNvSpPr/>
          <p:nvPr/>
        </p:nvSpPr>
        <p:spPr>
          <a:xfrm>
            <a:off x="493776" y="2350008"/>
            <a:ext cx="512064" cy="512064"/>
          </a:xfrm>
          <a:prstGeom prst="ellipse">
            <a:avLst/>
          </a:prstGeom>
          <a:solidFill>
            <a:srgbClr val="E4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66" name="Picture 15365" descr="farm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468880"/>
            <a:ext cx="274320" cy="274320"/>
          </a:xfrm>
          <a:prstGeom prst="rect">
            <a:avLst/>
          </a:prstGeom>
        </p:spPr>
      </p:pic>
      <p:sp>
        <p:nvSpPr>
          <p:cNvPr id="15367" name="TextBox 15366"/>
          <p:cNvSpPr txBox="1"/>
          <p:nvPr/>
        </p:nvSpPr>
        <p:spPr>
          <a:xfrm>
            <a:off x="1078992" y="2395728"/>
            <a:ext cx="27828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dirty="0">
                <a:solidFill>
                  <a:srgbClr val="375C24"/>
                </a:solidFill>
                <a:latin typeface="Arial"/>
              </a:rPr>
              <a:t>FARMER / OWNER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1078992" y="2633472"/>
            <a:ext cx="27828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827B6F"/>
                </a:solidFill>
                <a:latin typeface="Arial"/>
              </a:rPr>
              <a:t>Reports symptoms</a:t>
            </a:r>
          </a:p>
        </p:txBody>
      </p:sp>
      <p:cxnSp>
        <p:nvCxnSpPr>
          <p:cNvPr id="15369" name="Connector 15368"/>
          <p:cNvCxnSpPr/>
          <p:nvPr/>
        </p:nvCxnSpPr>
        <p:spPr>
          <a:xfrm flipH="1">
            <a:off x="2168652" y="2194560"/>
            <a:ext cx="3925823" cy="109728"/>
          </a:xfrm>
          <a:prstGeom prst="line">
            <a:avLst/>
          </a:prstGeom>
          <a:ln w="19050">
            <a:solidFill>
              <a:srgbClr val="827B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0" name="Rounded Rectangle 15369"/>
          <p:cNvSpPr/>
          <p:nvPr/>
        </p:nvSpPr>
        <p:spPr>
          <a:xfrm>
            <a:off x="4291584" y="2322576"/>
            <a:ext cx="3605784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780">
            <a:solidFill>
              <a:srgbClr val="5A943C"/>
            </a:solidFill>
          </a:ln>
          <a:effectLst>
            <a:outerShdw blurRad="54864" dist="27432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1" name="Oval 15370"/>
          <p:cNvSpPr/>
          <p:nvPr/>
        </p:nvSpPr>
        <p:spPr>
          <a:xfrm>
            <a:off x="4419600" y="2350008"/>
            <a:ext cx="512064" cy="512064"/>
          </a:xfrm>
          <a:prstGeom prst="ellipse">
            <a:avLst/>
          </a:prstGeom>
          <a:solidFill>
            <a:srgbClr val="E4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72" name="Picture 15371" descr="v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8472" y="2468880"/>
            <a:ext cx="274320" cy="274320"/>
          </a:xfrm>
          <a:prstGeom prst="rect">
            <a:avLst/>
          </a:prstGeom>
        </p:spPr>
      </p:pic>
      <p:sp>
        <p:nvSpPr>
          <p:cNvPr id="15373" name="TextBox 15372"/>
          <p:cNvSpPr txBox="1"/>
          <p:nvPr/>
        </p:nvSpPr>
        <p:spPr>
          <a:xfrm>
            <a:off x="5004816" y="2395728"/>
            <a:ext cx="27828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75C24"/>
                </a:solidFill>
                <a:latin typeface="Arial"/>
              </a:rPr>
              <a:t>VETERINARY (VAS)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5004816" y="2633472"/>
            <a:ext cx="27828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827B6F"/>
                </a:solidFill>
                <a:latin typeface="Arial"/>
              </a:rPr>
              <a:t>Reviews &amp; triages case</a:t>
            </a:r>
          </a:p>
        </p:txBody>
      </p:sp>
      <p:cxnSp>
        <p:nvCxnSpPr>
          <p:cNvPr id="15375" name="Connector 15374"/>
          <p:cNvCxnSpPr/>
          <p:nvPr/>
        </p:nvCxnSpPr>
        <p:spPr>
          <a:xfrm>
            <a:off x="6094475" y="2194560"/>
            <a:ext cx="1" cy="109728"/>
          </a:xfrm>
          <a:prstGeom prst="line">
            <a:avLst/>
          </a:prstGeom>
          <a:ln w="19050">
            <a:solidFill>
              <a:srgbClr val="827B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6" name="Rounded Rectangle 15375"/>
          <p:cNvSpPr/>
          <p:nvPr/>
        </p:nvSpPr>
        <p:spPr>
          <a:xfrm>
            <a:off x="8217408" y="2322576"/>
            <a:ext cx="3605784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7780">
            <a:solidFill>
              <a:srgbClr val="5A943C"/>
            </a:solidFill>
          </a:ln>
          <a:effectLst>
            <a:outerShdw blurRad="54864" dist="27432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7" name="Oval 15376"/>
          <p:cNvSpPr/>
          <p:nvPr/>
        </p:nvSpPr>
        <p:spPr>
          <a:xfrm>
            <a:off x="8345424" y="2350008"/>
            <a:ext cx="512064" cy="512064"/>
          </a:xfrm>
          <a:prstGeom prst="ellipse">
            <a:avLst/>
          </a:prstGeom>
          <a:solidFill>
            <a:srgbClr val="E4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78" name="Picture 15377" descr="offic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4296" y="2468880"/>
            <a:ext cx="274320" cy="274320"/>
          </a:xfrm>
          <a:prstGeom prst="rect">
            <a:avLst/>
          </a:prstGeom>
        </p:spPr>
      </p:pic>
      <p:sp>
        <p:nvSpPr>
          <p:cNvPr id="15379" name="TextBox 15378"/>
          <p:cNvSpPr txBox="1"/>
          <p:nvPr/>
        </p:nvSpPr>
        <p:spPr>
          <a:xfrm>
            <a:off x="8930640" y="2395728"/>
            <a:ext cx="27828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375C24"/>
                </a:solidFill>
                <a:latin typeface="Arial"/>
              </a:rPr>
              <a:t>AUTHORITY (DVO)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8930640" y="2633472"/>
            <a:ext cx="27828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827B6F"/>
                </a:solidFill>
                <a:latin typeface="Arial"/>
              </a:rPr>
              <a:t>Tracks district clusters</a:t>
            </a:r>
          </a:p>
        </p:txBody>
      </p:sp>
      <p:cxnSp>
        <p:nvCxnSpPr>
          <p:cNvPr id="15381" name="Connector 15380"/>
          <p:cNvCxnSpPr/>
          <p:nvPr/>
        </p:nvCxnSpPr>
        <p:spPr>
          <a:xfrm>
            <a:off x="6094475" y="2194560"/>
            <a:ext cx="3925824" cy="109728"/>
          </a:xfrm>
          <a:prstGeom prst="line">
            <a:avLst/>
          </a:prstGeom>
          <a:ln w="19050">
            <a:solidFill>
              <a:srgbClr val="827B6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2" name="Down Arrow 15381"/>
          <p:cNvSpPr/>
          <p:nvPr/>
        </p:nvSpPr>
        <p:spPr>
          <a:xfrm>
            <a:off x="5966460" y="3035808"/>
            <a:ext cx="256032" cy="146304"/>
          </a:xfrm>
          <a:prstGeom prst="downArrow">
            <a:avLst/>
          </a:prstGeom>
          <a:solidFill>
            <a:srgbClr val="827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3" name="Rounded Rectangle 15382"/>
          <p:cNvSpPr/>
          <p:nvPr/>
        </p:nvSpPr>
        <p:spPr>
          <a:xfrm>
            <a:off x="365760" y="3236976"/>
            <a:ext cx="5701283" cy="384048"/>
          </a:xfrm>
          <a:prstGeom prst="roundRect">
            <a:avLst>
              <a:gd name="adj" fmla="val 16000"/>
            </a:avLst>
          </a:prstGeom>
          <a:solidFill>
            <a:srgbClr val="0B6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STRUCTURED SURVEILLANCE — timestamped, geotagged case records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6121907" y="3236976"/>
            <a:ext cx="5701283" cy="384048"/>
          </a:xfrm>
          <a:prstGeom prst="roundRect">
            <a:avLst>
              <a:gd name="adj" fmla="val 16000"/>
            </a:avLst>
          </a:prstGeom>
          <a:solidFill>
            <a:srgbClr val="CC6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EARLY ACTION — mortality auto-escalates to “Outbreak Risk”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365760" y="3767328"/>
            <a:ext cx="11457432" cy="292608"/>
          </a:xfrm>
          <a:prstGeom prst="roundRect">
            <a:avLst>
              <a:gd name="adj" fmla="val 15000"/>
            </a:avLst>
          </a:prstGeom>
          <a:solidFill>
            <a:srgbClr val="375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CAPABILITIES DOCUMENTED IN THE JEEVSETU PROTOTYPE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365760" y="4169664"/>
            <a:ext cx="3721607" cy="87325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5A943C"/>
            </a:solidFill>
          </a:ln>
          <a:effectLst>
            <a:outerShdw blurRad="54864" dist="27432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7" name="Rectangle 15386"/>
          <p:cNvSpPr/>
          <p:nvPr/>
        </p:nvSpPr>
        <p:spPr>
          <a:xfrm>
            <a:off x="365760" y="4169664"/>
            <a:ext cx="3721607" cy="54864"/>
          </a:xfrm>
          <a:prstGeom prst="rect">
            <a:avLst/>
          </a:prstGeom>
          <a:solidFill>
            <a:srgbClr val="5A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8" name="Oval 15387"/>
          <p:cNvSpPr/>
          <p:nvPr/>
        </p:nvSpPr>
        <p:spPr>
          <a:xfrm>
            <a:off x="457200" y="4261104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89" name="Picture 15388" descr="mi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425696"/>
            <a:ext cx="329184" cy="329184"/>
          </a:xfrm>
          <a:prstGeom prst="rect">
            <a:avLst/>
          </a:prstGeom>
        </p:spPr>
      </p:pic>
      <p:sp>
        <p:nvSpPr>
          <p:cNvPr id="15390" name="TextBox 15389"/>
          <p:cNvSpPr txBox="1"/>
          <p:nvPr/>
        </p:nvSpPr>
        <p:spPr>
          <a:xfrm>
            <a:off x="1234440" y="4288536"/>
            <a:ext cx="271576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B2925"/>
                </a:solidFill>
                <a:latin typeface="Arial"/>
              </a:rPr>
              <a:t>Multilingual Voice Reporting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1234440" y="4599432"/>
            <a:ext cx="2715767" cy="342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 i="0">
                <a:solidFill>
                  <a:srgbClr val="827B6F"/>
                </a:solidFill>
                <a:latin typeface="Arial"/>
              </a:rPr>
              <a:t>Speak symptoms in English, Hindi or Telugu via browser-native speech recognition.</a:t>
            </a:r>
          </a:p>
        </p:txBody>
      </p:sp>
      <p:sp>
        <p:nvSpPr>
          <p:cNvPr id="15392" name="Rounded Rectangle 15391"/>
          <p:cNvSpPr/>
          <p:nvPr/>
        </p:nvSpPr>
        <p:spPr>
          <a:xfrm>
            <a:off x="4233672" y="4169664"/>
            <a:ext cx="3721607" cy="87325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CC6630"/>
            </a:solidFill>
          </a:ln>
          <a:effectLst>
            <a:outerShdw blurRad="54864" dist="27432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3" name="Rectangle 15392"/>
          <p:cNvSpPr/>
          <p:nvPr/>
        </p:nvSpPr>
        <p:spPr>
          <a:xfrm>
            <a:off x="4233672" y="4169664"/>
            <a:ext cx="3721607" cy="54864"/>
          </a:xfrm>
          <a:prstGeom prst="rect">
            <a:avLst/>
          </a:prstGeom>
          <a:solidFill>
            <a:srgbClr val="CC6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4" name="Oval 15393"/>
          <p:cNvSpPr/>
          <p:nvPr/>
        </p:nvSpPr>
        <p:spPr>
          <a:xfrm>
            <a:off x="4325112" y="4261104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95" name="Picture 15394" descr="tri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9704" y="4425696"/>
            <a:ext cx="329184" cy="329184"/>
          </a:xfrm>
          <a:prstGeom prst="rect">
            <a:avLst/>
          </a:prstGeom>
        </p:spPr>
      </p:pic>
      <p:sp>
        <p:nvSpPr>
          <p:cNvPr id="15396" name="TextBox 15395"/>
          <p:cNvSpPr txBox="1"/>
          <p:nvPr/>
        </p:nvSpPr>
        <p:spPr>
          <a:xfrm>
            <a:off x="5102352" y="4288536"/>
            <a:ext cx="271576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B2925"/>
                </a:solidFill>
                <a:latin typeface="Arial"/>
              </a:rPr>
              <a:t>Rule-Based Triage Engine</a:t>
            </a:r>
          </a:p>
        </p:txBody>
      </p:sp>
      <p:sp>
        <p:nvSpPr>
          <p:cNvPr id="15397" name="TextBox 15396"/>
          <p:cNvSpPr txBox="1"/>
          <p:nvPr/>
        </p:nvSpPr>
        <p:spPr>
          <a:xfrm>
            <a:off x="5102352" y="4599432"/>
            <a:ext cx="2715767" cy="342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 i="0">
                <a:solidFill>
                  <a:srgbClr val="827B6F"/>
                </a:solidFill>
                <a:latin typeface="Arial"/>
              </a:rPr>
              <a:t>Deterministic severity scoring; mortality auto-escalates a case to “Outbreak Risk”.</a:t>
            </a:r>
          </a:p>
        </p:txBody>
      </p:sp>
      <p:sp>
        <p:nvSpPr>
          <p:cNvPr id="15398" name="Rounded Rectangle 15397"/>
          <p:cNvSpPr/>
          <p:nvPr/>
        </p:nvSpPr>
        <p:spPr>
          <a:xfrm>
            <a:off x="8101583" y="4169664"/>
            <a:ext cx="3721607" cy="87325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0070C0"/>
            </a:solidFill>
          </a:ln>
          <a:effectLst>
            <a:outerShdw blurRad="54864" dist="27432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9" name="Rectangle 15398"/>
          <p:cNvSpPr/>
          <p:nvPr/>
        </p:nvSpPr>
        <p:spPr>
          <a:xfrm>
            <a:off x="8101583" y="4169664"/>
            <a:ext cx="3721607" cy="5486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0" name="Oval 15399"/>
          <p:cNvSpPr/>
          <p:nvPr/>
        </p:nvSpPr>
        <p:spPr>
          <a:xfrm>
            <a:off x="8193024" y="4261104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401" name="Picture 15400" descr="offlin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7616" y="4425696"/>
            <a:ext cx="329184" cy="329184"/>
          </a:xfrm>
          <a:prstGeom prst="rect">
            <a:avLst/>
          </a:prstGeom>
        </p:spPr>
      </p:pic>
      <p:sp>
        <p:nvSpPr>
          <p:cNvPr id="15402" name="TextBox 15401"/>
          <p:cNvSpPr txBox="1"/>
          <p:nvPr/>
        </p:nvSpPr>
        <p:spPr>
          <a:xfrm>
            <a:off x="8970263" y="4288536"/>
            <a:ext cx="271576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B2925"/>
                </a:solidFill>
                <a:latin typeface="Arial"/>
              </a:rPr>
              <a:t>Offline Report Queue*</a:t>
            </a:r>
          </a:p>
        </p:txBody>
      </p:sp>
      <p:sp>
        <p:nvSpPr>
          <p:cNvPr id="15403" name="TextBox 15402"/>
          <p:cNvSpPr txBox="1"/>
          <p:nvPr/>
        </p:nvSpPr>
        <p:spPr>
          <a:xfrm>
            <a:off x="8970263" y="4599432"/>
            <a:ext cx="2715767" cy="342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 i="0">
                <a:solidFill>
                  <a:srgbClr val="827B6F"/>
                </a:solidFill>
                <a:latin typeface="Arial"/>
              </a:rPr>
              <a:t>Reports made without connectivity are queued (IndexedDB) and synced later.</a:t>
            </a:r>
          </a:p>
        </p:txBody>
      </p:sp>
      <p:sp>
        <p:nvSpPr>
          <p:cNvPr id="15404" name="Rounded Rectangle 15403"/>
          <p:cNvSpPr/>
          <p:nvPr/>
        </p:nvSpPr>
        <p:spPr>
          <a:xfrm>
            <a:off x="365760" y="5189220"/>
            <a:ext cx="3721607" cy="87325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0B6E63"/>
            </a:solidFill>
          </a:ln>
          <a:effectLst>
            <a:outerShdw blurRad="54864" dist="27432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5" name="Rectangle 15404"/>
          <p:cNvSpPr/>
          <p:nvPr/>
        </p:nvSpPr>
        <p:spPr>
          <a:xfrm>
            <a:off x="365760" y="5189220"/>
            <a:ext cx="3721607" cy="54864"/>
          </a:xfrm>
          <a:prstGeom prst="rect">
            <a:avLst/>
          </a:prstGeom>
          <a:solidFill>
            <a:srgbClr val="0B6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06" name="Oval 15405"/>
          <p:cNvSpPr/>
          <p:nvPr/>
        </p:nvSpPr>
        <p:spPr>
          <a:xfrm>
            <a:off x="457200" y="5280660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407" name="Picture 15406" descr="v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5445252"/>
            <a:ext cx="329184" cy="329184"/>
          </a:xfrm>
          <a:prstGeom prst="rect">
            <a:avLst/>
          </a:prstGeom>
        </p:spPr>
      </p:pic>
      <p:sp>
        <p:nvSpPr>
          <p:cNvPr id="15408" name="TextBox 15407"/>
          <p:cNvSpPr txBox="1"/>
          <p:nvPr/>
        </p:nvSpPr>
        <p:spPr>
          <a:xfrm>
            <a:off x="1234440" y="5308092"/>
            <a:ext cx="271576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B2925"/>
                </a:solidFill>
                <a:latin typeface="Arial"/>
              </a:rPr>
              <a:t>Role-Based Workflows</a:t>
            </a:r>
          </a:p>
        </p:txBody>
      </p:sp>
      <p:sp>
        <p:nvSpPr>
          <p:cNvPr id="15409" name="TextBox 15408"/>
          <p:cNvSpPr txBox="1"/>
          <p:nvPr/>
        </p:nvSpPr>
        <p:spPr>
          <a:xfrm>
            <a:off x="1234440" y="5618988"/>
            <a:ext cx="2715767" cy="342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 i="0">
                <a:solidFill>
                  <a:srgbClr val="827B6F"/>
                </a:solidFill>
                <a:latin typeface="Arial"/>
              </a:rPr>
              <a:t>Distinct flows for Farmers, Veterinary Assistant Surgeons and District Officers.</a:t>
            </a:r>
          </a:p>
        </p:txBody>
      </p:sp>
      <p:sp>
        <p:nvSpPr>
          <p:cNvPr id="15410" name="Rounded Rectangle 15409"/>
          <p:cNvSpPr/>
          <p:nvPr/>
        </p:nvSpPr>
        <p:spPr>
          <a:xfrm>
            <a:off x="4233672" y="5189220"/>
            <a:ext cx="3721607" cy="87325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5A943C"/>
            </a:solidFill>
          </a:ln>
          <a:effectLst>
            <a:outerShdw blurRad="54864" dist="27432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11" name="Rectangle 15410"/>
          <p:cNvSpPr/>
          <p:nvPr/>
        </p:nvSpPr>
        <p:spPr>
          <a:xfrm>
            <a:off x="4233672" y="5189220"/>
            <a:ext cx="3721607" cy="54864"/>
          </a:xfrm>
          <a:prstGeom prst="rect">
            <a:avLst/>
          </a:prstGeom>
          <a:solidFill>
            <a:srgbClr val="5A9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12" name="Oval 15411"/>
          <p:cNvSpPr/>
          <p:nvPr/>
        </p:nvSpPr>
        <p:spPr>
          <a:xfrm>
            <a:off x="4325112" y="5280660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413" name="Picture 15412" descr="ma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9704" y="5445252"/>
            <a:ext cx="329184" cy="329184"/>
          </a:xfrm>
          <a:prstGeom prst="rect">
            <a:avLst/>
          </a:prstGeom>
        </p:spPr>
      </p:pic>
      <p:sp>
        <p:nvSpPr>
          <p:cNvPr id="15414" name="TextBox 15413"/>
          <p:cNvSpPr txBox="1"/>
          <p:nvPr/>
        </p:nvSpPr>
        <p:spPr>
          <a:xfrm>
            <a:off x="5102352" y="5308092"/>
            <a:ext cx="271576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B2925"/>
                </a:solidFill>
                <a:latin typeface="Arial"/>
              </a:rPr>
              <a:t>Geospatial Case Map</a:t>
            </a:r>
          </a:p>
        </p:txBody>
      </p:sp>
      <p:sp>
        <p:nvSpPr>
          <p:cNvPr id="15415" name="TextBox 15414"/>
          <p:cNvSpPr txBox="1"/>
          <p:nvPr/>
        </p:nvSpPr>
        <p:spPr>
          <a:xfrm>
            <a:off x="5102352" y="5618988"/>
            <a:ext cx="2715767" cy="342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 i="0">
                <a:solidFill>
                  <a:srgbClr val="827B6F"/>
                </a:solidFill>
                <a:latin typeface="Arial"/>
              </a:rPr>
              <a:t>District-level case visualisation built with Leaflet / React-Leaflet.</a:t>
            </a:r>
          </a:p>
        </p:txBody>
      </p:sp>
      <p:sp>
        <p:nvSpPr>
          <p:cNvPr id="15416" name="Rounded Rectangle 15415"/>
          <p:cNvSpPr/>
          <p:nvPr/>
        </p:nvSpPr>
        <p:spPr>
          <a:xfrm>
            <a:off x="8101583" y="5189220"/>
            <a:ext cx="3721607" cy="87325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6510">
            <a:solidFill>
              <a:srgbClr val="CC6630"/>
            </a:solidFill>
          </a:ln>
          <a:effectLst>
            <a:outerShdw blurRad="54864" dist="27432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17" name="Rectangle 15416"/>
          <p:cNvSpPr/>
          <p:nvPr/>
        </p:nvSpPr>
        <p:spPr>
          <a:xfrm>
            <a:off x="8101583" y="5189220"/>
            <a:ext cx="3721607" cy="54864"/>
          </a:xfrm>
          <a:prstGeom prst="rect">
            <a:avLst/>
          </a:prstGeom>
          <a:solidFill>
            <a:srgbClr val="CC6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18" name="Oval 15417"/>
          <p:cNvSpPr/>
          <p:nvPr/>
        </p:nvSpPr>
        <p:spPr>
          <a:xfrm>
            <a:off x="8193024" y="5280660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419" name="Picture 15418" descr="co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7616" y="5445252"/>
            <a:ext cx="329184" cy="329184"/>
          </a:xfrm>
          <a:prstGeom prst="rect">
            <a:avLst/>
          </a:prstGeom>
        </p:spPr>
      </p:pic>
      <p:sp>
        <p:nvSpPr>
          <p:cNvPr id="15420" name="TextBox 15419"/>
          <p:cNvSpPr txBox="1"/>
          <p:nvPr/>
        </p:nvSpPr>
        <p:spPr>
          <a:xfrm>
            <a:off x="8970263" y="5308092"/>
            <a:ext cx="2715767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B2925"/>
                </a:solidFill>
                <a:latin typeface="Arial"/>
              </a:rPr>
              <a:t>Indian Livestock Breed Data</a:t>
            </a:r>
          </a:p>
        </p:txBody>
      </p:sp>
      <p:sp>
        <p:nvSpPr>
          <p:cNvPr id="15421" name="TextBox 15420"/>
          <p:cNvSpPr txBox="1"/>
          <p:nvPr/>
        </p:nvSpPr>
        <p:spPr>
          <a:xfrm>
            <a:off x="8970263" y="5618988"/>
            <a:ext cx="2715767" cy="3428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 i="0">
                <a:solidFill>
                  <a:srgbClr val="827B6F"/>
                </a:solidFill>
                <a:latin typeface="Arial"/>
              </a:rPr>
              <a:t>Localised breed coverage: Cattle, Buffalo, Goat, Sheep, Pig, Poultry.</a:t>
            </a:r>
          </a:p>
        </p:txBody>
      </p:sp>
      <p:sp>
        <p:nvSpPr>
          <p:cNvPr id="15422" name="TextBox 15421"/>
          <p:cNvSpPr txBox="1"/>
          <p:nvPr/>
        </p:nvSpPr>
        <p:spPr>
          <a:xfrm>
            <a:off x="365760" y="6108192"/>
            <a:ext cx="114574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0" i="1">
                <a:solidFill>
                  <a:srgbClr val="827B6F"/>
                </a:solidFill>
                <a:latin typeface="Arial"/>
              </a:rPr>
              <a:t>*Documented in project README; not independently verified from application source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accent5">
                    <a:lumMod val="75000"/>
                  </a:schemeClr>
                </a:solidFill>
                <a:latin typeface="Niagara Solid" panose="04020502070702020202" pitchFamily="82" charset="0"/>
                <a:cs typeface="Aldhabi" panose="020F0502020204030204" pitchFamily="2" charset="-78"/>
              </a:rPr>
              <a:t>ChaoTics</a:t>
            </a:r>
            <a:endParaRPr lang="en-IN" sz="2400" dirty="0">
              <a:solidFill>
                <a:schemeClr val="accent5">
                  <a:lumMod val="75000"/>
                </a:schemeClr>
              </a:solidFill>
              <a:latin typeface="Niagara Solid" panose="04020502070702020202" pitchFamily="82" charset="0"/>
              <a:cs typeface="Aldhabi" panose="020F0502020204030204" pitchFamily="2" charset="-78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243584"/>
            <a:ext cx="3685032" cy="310896"/>
          </a:xfrm>
          <a:prstGeom prst="roundRect">
            <a:avLst>
              <a:gd name="adj" fmla="val 15000"/>
            </a:avLst>
          </a:prstGeom>
          <a:solidFill>
            <a:srgbClr val="375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USER WORKFLOW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65760" y="1682496"/>
            <a:ext cx="3685032" cy="66385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5A943C"/>
            </a:solidFill>
          </a:ln>
          <a:effectLst>
            <a:outerShdw blurRad="54864" dist="27432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466344" y="1804111"/>
            <a:ext cx="420624" cy="420624"/>
          </a:xfrm>
          <a:prstGeom prst="ellipse">
            <a:avLst/>
          </a:prstGeom>
          <a:solidFill>
            <a:srgbClr val="E4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3" name="Picture 17412" descr="farm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904695"/>
            <a:ext cx="219456" cy="219456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932688" y="1788712"/>
            <a:ext cx="2999232" cy="278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B2925"/>
                </a:solidFill>
                <a:latin typeface="Arial"/>
              </a:rPr>
              <a:t>Farmer / Field Worker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932688" y="2040977"/>
            <a:ext cx="2999232" cy="265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827B6F"/>
                </a:solidFill>
                <a:latin typeface="Arial"/>
              </a:rPr>
              <a:t>notices symptoms</a:t>
            </a:r>
          </a:p>
        </p:txBody>
      </p:sp>
      <p:sp>
        <p:nvSpPr>
          <p:cNvPr id="17416" name="Down Arrow 17415"/>
          <p:cNvSpPr/>
          <p:nvPr/>
        </p:nvSpPr>
        <p:spPr>
          <a:xfrm>
            <a:off x="2135124" y="2350922"/>
            <a:ext cx="146304" cy="91440"/>
          </a:xfrm>
          <a:prstGeom prst="downArrow">
            <a:avLst/>
          </a:prstGeom>
          <a:solidFill>
            <a:srgbClr val="827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ounded Rectangle 17416"/>
          <p:cNvSpPr/>
          <p:nvPr/>
        </p:nvSpPr>
        <p:spPr>
          <a:xfrm>
            <a:off x="365760" y="2456078"/>
            <a:ext cx="3685032" cy="66385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5A943C"/>
            </a:solidFill>
          </a:ln>
          <a:effectLst>
            <a:outerShdw blurRad="54864" dist="27432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Oval 17417"/>
          <p:cNvSpPr/>
          <p:nvPr/>
        </p:nvSpPr>
        <p:spPr>
          <a:xfrm>
            <a:off x="466344" y="2577693"/>
            <a:ext cx="420624" cy="420624"/>
          </a:xfrm>
          <a:prstGeom prst="ellipse">
            <a:avLst/>
          </a:prstGeom>
          <a:solidFill>
            <a:srgbClr val="E4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9" name="Picture 17418" descr="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678277"/>
            <a:ext cx="219456" cy="219456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932688" y="2562295"/>
            <a:ext cx="2999232" cy="278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B2925"/>
                </a:solidFill>
                <a:latin typeface="Arial"/>
              </a:rPr>
              <a:t>Voice / Text Report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932688" y="2814559"/>
            <a:ext cx="2999232" cy="265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827B6F"/>
                </a:solidFill>
                <a:latin typeface="Arial"/>
              </a:rPr>
              <a:t>in EN, HI or TE</a:t>
            </a:r>
          </a:p>
        </p:txBody>
      </p:sp>
      <p:sp>
        <p:nvSpPr>
          <p:cNvPr id="17422" name="Down Arrow 17421"/>
          <p:cNvSpPr/>
          <p:nvPr/>
        </p:nvSpPr>
        <p:spPr>
          <a:xfrm>
            <a:off x="2135124" y="3124504"/>
            <a:ext cx="146304" cy="91440"/>
          </a:xfrm>
          <a:prstGeom prst="downArrow">
            <a:avLst/>
          </a:prstGeom>
          <a:solidFill>
            <a:srgbClr val="827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Rounded Rectangle 17422"/>
          <p:cNvSpPr/>
          <p:nvPr/>
        </p:nvSpPr>
        <p:spPr>
          <a:xfrm>
            <a:off x="365760" y="3229660"/>
            <a:ext cx="3685032" cy="66385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5A943C"/>
            </a:solidFill>
          </a:ln>
          <a:effectLst>
            <a:outerShdw blurRad="54864" dist="27432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Oval 17423"/>
          <p:cNvSpPr/>
          <p:nvPr/>
        </p:nvSpPr>
        <p:spPr>
          <a:xfrm>
            <a:off x="466344" y="3351276"/>
            <a:ext cx="420624" cy="420624"/>
          </a:xfrm>
          <a:prstGeom prst="ellipse">
            <a:avLst/>
          </a:prstGeom>
          <a:solidFill>
            <a:srgbClr val="E4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5" name="Picture 17424" descr="tri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451860"/>
            <a:ext cx="219456" cy="219456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932688" y="3335877"/>
            <a:ext cx="2999232" cy="278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B2925"/>
                </a:solidFill>
                <a:latin typeface="Arial"/>
              </a:rPr>
              <a:t>Rule-Based Triage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932688" y="3588142"/>
            <a:ext cx="2999232" cy="265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827B6F"/>
                </a:solidFill>
                <a:latin typeface="Arial"/>
              </a:rPr>
              <a:t>severity is scored</a:t>
            </a:r>
          </a:p>
        </p:txBody>
      </p:sp>
      <p:sp>
        <p:nvSpPr>
          <p:cNvPr id="17428" name="Down Arrow 17427"/>
          <p:cNvSpPr/>
          <p:nvPr/>
        </p:nvSpPr>
        <p:spPr>
          <a:xfrm>
            <a:off x="2135124" y="3898087"/>
            <a:ext cx="146304" cy="91440"/>
          </a:xfrm>
          <a:prstGeom prst="downArrow">
            <a:avLst/>
          </a:prstGeom>
          <a:solidFill>
            <a:srgbClr val="827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Rounded Rectangle 17428"/>
          <p:cNvSpPr/>
          <p:nvPr/>
        </p:nvSpPr>
        <p:spPr>
          <a:xfrm>
            <a:off x="365760" y="4003243"/>
            <a:ext cx="3685032" cy="66385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5A943C"/>
            </a:solidFill>
          </a:ln>
          <a:effectLst>
            <a:outerShdw blurRad="54864" dist="27432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Oval 17429"/>
          <p:cNvSpPr/>
          <p:nvPr/>
        </p:nvSpPr>
        <p:spPr>
          <a:xfrm>
            <a:off x="466344" y="4124858"/>
            <a:ext cx="420624" cy="420624"/>
          </a:xfrm>
          <a:prstGeom prst="ellipse">
            <a:avLst/>
          </a:prstGeom>
          <a:solidFill>
            <a:srgbClr val="E4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1" name="Picture 17430" descr="v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225442"/>
            <a:ext cx="219456" cy="219456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932688" y="4109459"/>
            <a:ext cx="2999232" cy="278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B2925"/>
                </a:solidFill>
                <a:latin typeface="Arial"/>
              </a:rPr>
              <a:t>VAS / DVO Review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932688" y="4361724"/>
            <a:ext cx="2999232" cy="265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827B6F"/>
                </a:solidFill>
                <a:latin typeface="Arial"/>
              </a:rPr>
              <a:t>case queue &amp; records</a:t>
            </a:r>
          </a:p>
        </p:txBody>
      </p:sp>
      <p:sp>
        <p:nvSpPr>
          <p:cNvPr id="17434" name="Down Arrow 17433"/>
          <p:cNvSpPr/>
          <p:nvPr/>
        </p:nvSpPr>
        <p:spPr>
          <a:xfrm>
            <a:off x="2135124" y="4671669"/>
            <a:ext cx="146304" cy="91440"/>
          </a:xfrm>
          <a:prstGeom prst="downArrow">
            <a:avLst/>
          </a:prstGeom>
          <a:solidFill>
            <a:srgbClr val="827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Rounded Rectangle 17434"/>
          <p:cNvSpPr/>
          <p:nvPr/>
        </p:nvSpPr>
        <p:spPr>
          <a:xfrm>
            <a:off x="365760" y="4776825"/>
            <a:ext cx="3685032" cy="66385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5A943C"/>
            </a:solidFill>
          </a:ln>
          <a:effectLst>
            <a:outerShdw blurRad="54864" dist="27432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6" name="Oval 17435"/>
          <p:cNvSpPr/>
          <p:nvPr/>
        </p:nvSpPr>
        <p:spPr>
          <a:xfrm>
            <a:off x="466344" y="4898440"/>
            <a:ext cx="420624" cy="420624"/>
          </a:xfrm>
          <a:prstGeom prst="ellipse">
            <a:avLst/>
          </a:prstGeom>
          <a:solidFill>
            <a:srgbClr val="E4F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7" name="Picture 17436" descr="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" y="4999024"/>
            <a:ext cx="219456" cy="219456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932688" y="4883042"/>
            <a:ext cx="2999232" cy="278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2B2925"/>
                </a:solidFill>
                <a:latin typeface="Arial"/>
              </a:rPr>
              <a:t>Advisory / Action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932688" y="5135306"/>
            <a:ext cx="2999232" cy="265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 i="0">
                <a:solidFill>
                  <a:srgbClr val="827B6F"/>
                </a:solidFill>
                <a:latin typeface="Arial"/>
              </a:rPr>
              <a:t>guidance to farmer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4251960" y="1243584"/>
            <a:ext cx="3685032" cy="310896"/>
          </a:xfrm>
          <a:prstGeom prst="roundRect">
            <a:avLst>
              <a:gd name="adj" fmla="val 1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SYSTEM ARCHITECTURE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4251960" y="1682496"/>
            <a:ext cx="3685032" cy="663854"/>
          </a:xfrm>
          <a:prstGeom prst="roundRect">
            <a:avLst>
              <a:gd name="adj" fmla="val 14000"/>
            </a:avLst>
          </a:prstGeom>
          <a:solidFill>
            <a:srgbClr val="375C24"/>
          </a:solidFill>
          <a:ln>
            <a:noFill/>
          </a:ln>
          <a:effectLst>
            <a:outerShdw blurRad="54864" dist="27432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pic>
        <p:nvPicPr>
          <p:cNvPr id="17442" name="Picture 17441" descr="react.png"/>
          <p:cNvPicPr>
            <a:picLocks noChangeAspect="1"/>
          </p:cNvPicPr>
          <p:nvPr/>
        </p:nvPicPr>
        <p:blipFill>
          <a:blip r:embed="rId9">
            <a:biLevel thresh="2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34840" y="1904695"/>
            <a:ext cx="219456" cy="219456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4782312" y="1775435"/>
            <a:ext cx="3026664" cy="278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4782312" y="2027700"/>
            <a:ext cx="3026664" cy="292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CF2EC"/>
                </a:solidFill>
                <a:latin typeface="Arial"/>
              </a:rPr>
              <a:t>React 18 SPA — TypeScript, Vite, Tailwind</a:t>
            </a:r>
          </a:p>
        </p:txBody>
      </p:sp>
      <p:sp>
        <p:nvSpPr>
          <p:cNvPr id="17445" name="Down Arrow 17444"/>
          <p:cNvSpPr/>
          <p:nvPr/>
        </p:nvSpPr>
        <p:spPr>
          <a:xfrm>
            <a:off x="6021324" y="2350922"/>
            <a:ext cx="146304" cy="91440"/>
          </a:xfrm>
          <a:prstGeom prst="downArrow">
            <a:avLst/>
          </a:prstGeom>
          <a:solidFill>
            <a:srgbClr val="827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6" name="Rounded Rectangle 17445"/>
          <p:cNvSpPr/>
          <p:nvPr/>
        </p:nvSpPr>
        <p:spPr>
          <a:xfrm>
            <a:off x="4251960" y="2456078"/>
            <a:ext cx="3685032" cy="663854"/>
          </a:xfrm>
          <a:prstGeom prst="roundRect">
            <a:avLst>
              <a:gd name="adj" fmla="val 14000"/>
            </a:avLst>
          </a:prstGeom>
          <a:solidFill>
            <a:srgbClr val="46762D"/>
          </a:solidFill>
          <a:ln>
            <a:noFill/>
          </a:ln>
          <a:effectLst>
            <a:outerShdw blurRad="54864" dist="27432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47" name="Picture 17446" descr="code.png"/>
          <p:cNvPicPr>
            <a:picLocks noChangeAspect="1"/>
          </p:cNvPicPr>
          <p:nvPr/>
        </p:nvPicPr>
        <p:blipFill>
          <a:blip r:embed="rId11">
            <a:biLevel thresh="25000"/>
          </a:blip>
          <a:stretch>
            <a:fillRect/>
          </a:stretch>
        </p:blipFill>
        <p:spPr>
          <a:xfrm>
            <a:off x="4434840" y="2678277"/>
            <a:ext cx="219456" cy="219456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4782312" y="2549018"/>
            <a:ext cx="3026664" cy="278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FFFFFF"/>
                </a:solidFill>
                <a:latin typeface="Arial"/>
              </a:rPr>
              <a:t>APPLICATION LOGIC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4782312" y="2801282"/>
            <a:ext cx="3026664" cy="292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CF2EC"/>
                </a:solidFill>
                <a:latin typeface="Arial"/>
              </a:rPr>
              <a:t>Client-side routing, state &amp; rule-based triage logic</a:t>
            </a:r>
          </a:p>
        </p:txBody>
      </p:sp>
      <p:sp>
        <p:nvSpPr>
          <p:cNvPr id="17450" name="Down Arrow 17449"/>
          <p:cNvSpPr/>
          <p:nvPr/>
        </p:nvSpPr>
        <p:spPr>
          <a:xfrm>
            <a:off x="6021324" y="3124504"/>
            <a:ext cx="146304" cy="91440"/>
          </a:xfrm>
          <a:prstGeom prst="downArrow">
            <a:avLst/>
          </a:prstGeom>
          <a:solidFill>
            <a:srgbClr val="827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1" name="Rounded Rectangle 17450"/>
          <p:cNvSpPr/>
          <p:nvPr/>
        </p:nvSpPr>
        <p:spPr>
          <a:xfrm>
            <a:off x="4251960" y="3229660"/>
            <a:ext cx="3685032" cy="663854"/>
          </a:xfrm>
          <a:prstGeom prst="roundRect">
            <a:avLst>
              <a:gd name="adj" fmla="val 14000"/>
            </a:avLst>
          </a:prstGeom>
          <a:solidFill>
            <a:srgbClr val="0070C0"/>
          </a:solidFill>
          <a:ln>
            <a:noFill/>
          </a:ln>
          <a:effectLst>
            <a:outerShdw blurRad="54864" dist="27432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52" name="Picture 17451" descr="lock.png"/>
          <p:cNvPicPr>
            <a:picLocks noChangeAspect="1"/>
          </p:cNvPicPr>
          <p:nvPr/>
        </p:nvPicPr>
        <p:blipFill>
          <a:blip r:embed="rId12">
            <a:biLevel thresh="25000"/>
          </a:blip>
          <a:stretch>
            <a:fillRect/>
          </a:stretch>
        </p:blipFill>
        <p:spPr>
          <a:xfrm>
            <a:off x="4434840" y="3451860"/>
            <a:ext cx="219456" cy="219456"/>
          </a:xfrm>
          <a:prstGeom prst="rect">
            <a:avLst/>
          </a:prstGeom>
        </p:spPr>
      </p:pic>
      <p:sp>
        <p:nvSpPr>
          <p:cNvPr id="17453" name="TextBox 17452"/>
          <p:cNvSpPr txBox="1"/>
          <p:nvPr/>
        </p:nvSpPr>
        <p:spPr>
          <a:xfrm>
            <a:off x="4782312" y="3322600"/>
            <a:ext cx="3026664" cy="278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FFFFFF"/>
                </a:solidFill>
                <a:latin typeface="Arial"/>
              </a:rPr>
              <a:t>AUTH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4782312" y="3574865"/>
            <a:ext cx="3026664" cy="292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3F0FB"/>
                </a:solidFill>
                <a:latin typeface="Arial"/>
              </a:rPr>
              <a:t>Supabase Authentication</a:t>
            </a:r>
          </a:p>
        </p:txBody>
      </p:sp>
      <p:sp>
        <p:nvSpPr>
          <p:cNvPr id="17455" name="Down Arrow 17454"/>
          <p:cNvSpPr/>
          <p:nvPr/>
        </p:nvSpPr>
        <p:spPr>
          <a:xfrm>
            <a:off x="6021324" y="3898087"/>
            <a:ext cx="146304" cy="91440"/>
          </a:xfrm>
          <a:prstGeom prst="downArrow">
            <a:avLst/>
          </a:prstGeom>
          <a:solidFill>
            <a:srgbClr val="827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6" name="Rounded Rectangle 17455"/>
          <p:cNvSpPr/>
          <p:nvPr/>
        </p:nvSpPr>
        <p:spPr>
          <a:xfrm>
            <a:off x="4251960" y="4003243"/>
            <a:ext cx="3685032" cy="663854"/>
          </a:xfrm>
          <a:prstGeom prst="roundRect">
            <a:avLst>
              <a:gd name="adj" fmla="val 14000"/>
            </a:avLst>
          </a:prstGeom>
          <a:solidFill>
            <a:srgbClr val="0070C0"/>
          </a:solidFill>
          <a:ln>
            <a:noFill/>
          </a:ln>
          <a:effectLst>
            <a:outerShdw blurRad="54864" dist="27432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57" name="Picture 17456" descr="database.png"/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34840" y="4225442"/>
            <a:ext cx="219456" cy="219456"/>
          </a:xfrm>
          <a:prstGeom prst="rect">
            <a:avLst/>
          </a:prstGeom>
        </p:spPr>
      </p:pic>
      <p:sp>
        <p:nvSpPr>
          <p:cNvPr id="17458" name="TextBox 17457"/>
          <p:cNvSpPr txBox="1"/>
          <p:nvPr/>
        </p:nvSpPr>
        <p:spPr>
          <a:xfrm>
            <a:off x="4782312" y="4096182"/>
            <a:ext cx="3026664" cy="278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FFFFFF"/>
                </a:solidFill>
                <a:latin typeface="Arial"/>
              </a:rPr>
              <a:t>DATABASE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4782312" y="4348447"/>
            <a:ext cx="3026664" cy="292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3F0FB"/>
                </a:solidFill>
                <a:latin typeface="Arial"/>
              </a:rPr>
              <a:t>Supabase PostgreSQL + Row-Level Security</a:t>
            </a:r>
          </a:p>
        </p:txBody>
      </p:sp>
      <p:sp>
        <p:nvSpPr>
          <p:cNvPr id="17460" name="Down Arrow 17459"/>
          <p:cNvSpPr/>
          <p:nvPr/>
        </p:nvSpPr>
        <p:spPr>
          <a:xfrm>
            <a:off x="6021324" y="4671669"/>
            <a:ext cx="146304" cy="91440"/>
          </a:xfrm>
          <a:prstGeom prst="downArrow">
            <a:avLst/>
          </a:prstGeom>
          <a:solidFill>
            <a:srgbClr val="827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1" name="Rounded Rectangle 17460"/>
          <p:cNvSpPr/>
          <p:nvPr/>
        </p:nvSpPr>
        <p:spPr>
          <a:xfrm>
            <a:off x="4251960" y="4776825"/>
            <a:ext cx="3685032" cy="663854"/>
          </a:xfrm>
          <a:prstGeom prst="roundRect">
            <a:avLst>
              <a:gd name="adj" fmla="val 14000"/>
            </a:avLst>
          </a:prstGeom>
          <a:solidFill>
            <a:srgbClr val="0B6E63"/>
          </a:solidFill>
          <a:ln>
            <a:noFill/>
          </a:ln>
          <a:effectLst>
            <a:outerShdw blurRad="54864" dist="27432" dir="5400000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62" name="Picture 17461" descr="map.png"/>
          <p:cNvPicPr>
            <a:picLocks noChangeAspect="1"/>
          </p:cNvPicPr>
          <p:nvPr/>
        </p:nvPicPr>
        <p:blipFill>
          <a:blip r:embed="rId14">
            <a:lum bright="70000" contrast="-70000"/>
          </a:blip>
          <a:stretch>
            <a:fillRect/>
          </a:stretch>
        </p:blipFill>
        <p:spPr>
          <a:xfrm>
            <a:off x="4434840" y="4999024"/>
            <a:ext cx="219456" cy="219456"/>
          </a:xfrm>
          <a:prstGeom prst="rect">
            <a:avLst/>
          </a:prstGeom>
        </p:spPr>
      </p:pic>
      <p:sp>
        <p:nvSpPr>
          <p:cNvPr id="17463" name="TextBox 17462"/>
          <p:cNvSpPr txBox="1"/>
          <p:nvPr/>
        </p:nvSpPr>
        <p:spPr>
          <a:xfrm>
            <a:off x="4782312" y="4869765"/>
            <a:ext cx="3026664" cy="2788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FFFFFF"/>
                </a:solidFill>
                <a:latin typeface="Arial"/>
              </a:rPr>
              <a:t>MAPPING / EXTERNAL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4782312" y="5122029"/>
            <a:ext cx="3026664" cy="292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0" i="0">
                <a:solidFill>
                  <a:srgbClr val="ECF2EC"/>
                </a:solidFill>
                <a:latin typeface="Arial"/>
              </a:rPr>
              <a:t>Leaflet map layer · offline queue (documented)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8138160" y="1243584"/>
            <a:ext cx="3685032" cy="310896"/>
          </a:xfrm>
          <a:prstGeom prst="roundRect">
            <a:avLst>
              <a:gd name="adj" fmla="val 15000"/>
            </a:avLst>
          </a:prstGeom>
          <a:solidFill>
            <a:srgbClr val="CC6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TECHNOLOGY STACK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8138160" y="1682496"/>
            <a:ext cx="3685032" cy="421766"/>
          </a:xfrm>
          <a:prstGeom prst="roundRect">
            <a:avLst>
              <a:gd name="adj" fmla="val 18000"/>
            </a:avLst>
          </a:prstGeom>
          <a:solidFill>
            <a:srgbClr val="ED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7" name="TextBox 17466"/>
          <p:cNvSpPr txBox="1"/>
          <p:nvPr/>
        </p:nvSpPr>
        <p:spPr>
          <a:xfrm>
            <a:off x="8229600" y="1682496"/>
            <a:ext cx="384048" cy="4217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C6630"/>
                </a:solidFill>
                <a:latin typeface="Arial"/>
              </a:rPr>
              <a:t>01</a:t>
            </a:r>
          </a:p>
        </p:txBody>
      </p:sp>
      <p:pic>
        <p:nvPicPr>
          <p:cNvPr id="17468" name="Picture 17467" descr="reac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32520" y="1801939"/>
            <a:ext cx="182880" cy="182880"/>
          </a:xfrm>
          <a:prstGeom prst="rect">
            <a:avLst/>
          </a:prstGeom>
        </p:spPr>
      </p:pic>
      <p:sp>
        <p:nvSpPr>
          <p:cNvPr id="17469" name="TextBox 17468"/>
          <p:cNvSpPr txBox="1"/>
          <p:nvPr/>
        </p:nvSpPr>
        <p:spPr>
          <a:xfrm>
            <a:off x="9052560" y="1716237"/>
            <a:ext cx="2633472" cy="194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2B2925"/>
                </a:solidFill>
                <a:latin typeface="Arial"/>
              </a:rPr>
              <a:t>Frontend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9052560" y="1893379"/>
            <a:ext cx="2633472" cy="194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827B6F"/>
                </a:solidFill>
                <a:latin typeface="Arial"/>
              </a:rPr>
              <a:t>React 18 · TypeScript 5 · Vite 5</a:t>
            </a:r>
          </a:p>
        </p:txBody>
      </p:sp>
      <p:sp>
        <p:nvSpPr>
          <p:cNvPr id="17471" name="Rounded Rectangle 17470"/>
          <p:cNvSpPr/>
          <p:nvPr/>
        </p:nvSpPr>
        <p:spPr>
          <a:xfrm>
            <a:off x="8138160" y="2159127"/>
            <a:ext cx="3685032" cy="421766"/>
          </a:xfrm>
          <a:prstGeom prst="roundRect">
            <a:avLst>
              <a:gd name="adj" fmla="val 18000"/>
            </a:avLst>
          </a:prstGeom>
          <a:solidFill>
            <a:srgbClr val="ED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2" name="TextBox 17471"/>
          <p:cNvSpPr txBox="1"/>
          <p:nvPr/>
        </p:nvSpPr>
        <p:spPr>
          <a:xfrm>
            <a:off x="8229600" y="2159127"/>
            <a:ext cx="384048" cy="4217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C6630"/>
                </a:solidFill>
                <a:latin typeface="Arial"/>
              </a:rPr>
              <a:t>02</a:t>
            </a:r>
          </a:p>
        </p:txBody>
      </p:sp>
      <p:pic>
        <p:nvPicPr>
          <p:cNvPr id="17473" name="Picture 17472" descr="layer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32520" y="2278570"/>
            <a:ext cx="182880" cy="182880"/>
          </a:xfrm>
          <a:prstGeom prst="rect">
            <a:avLst/>
          </a:prstGeom>
        </p:spPr>
      </p:pic>
      <p:sp>
        <p:nvSpPr>
          <p:cNvPr id="17474" name="TextBox 17473"/>
          <p:cNvSpPr txBox="1"/>
          <p:nvPr/>
        </p:nvSpPr>
        <p:spPr>
          <a:xfrm>
            <a:off x="9052560" y="2192868"/>
            <a:ext cx="2633472" cy="194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2B2925"/>
                </a:solidFill>
                <a:latin typeface="Arial"/>
              </a:rPr>
              <a:t>Styling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9052560" y="2370010"/>
            <a:ext cx="2633472" cy="194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827B6F"/>
                </a:solidFill>
                <a:latin typeface="Arial"/>
              </a:rPr>
              <a:t>Tailwind CSS</a:t>
            </a:r>
          </a:p>
        </p:txBody>
      </p:sp>
      <p:sp>
        <p:nvSpPr>
          <p:cNvPr id="17476" name="Rounded Rectangle 17475"/>
          <p:cNvSpPr/>
          <p:nvPr/>
        </p:nvSpPr>
        <p:spPr>
          <a:xfrm>
            <a:off x="8138160" y="2635758"/>
            <a:ext cx="3685032" cy="421766"/>
          </a:xfrm>
          <a:prstGeom prst="roundRect">
            <a:avLst>
              <a:gd name="adj" fmla="val 18000"/>
            </a:avLst>
          </a:prstGeom>
          <a:solidFill>
            <a:srgbClr val="ED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7" name="TextBox 17476"/>
          <p:cNvSpPr txBox="1"/>
          <p:nvPr/>
        </p:nvSpPr>
        <p:spPr>
          <a:xfrm>
            <a:off x="8229600" y="2635758"/>
            <a:ext cx="384048" cy="4217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C6630"/>
                </a:solidFill>
                <a:latin typeface="Arial"/>
              </a:rPr>
              <a:t>03</a:t>
            </a:r>
          </a:p>
        </p:txBody>
      </p:sp>
      <p:pic>
        <p:nvPicPr>
          <p:cNvPr id="17478" name="Picture 17477" descr="databas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32520" y="2755201"/>
            <a:ext cx="182880" cy="182880"/>
          </a:xfrm>
          <a:prstGeom prst="rect">
            <a:avLst/>
          </a:prstGeom>
        </p:spPr>
      </p:pic>
      <p:sp>
        <p:nvSpPr>
          <p:cNvPr id="17479" name="TextBox 17478"/>
          <p:cNvSpPr txBox="1"/>
          <p:nvPr/>
        </p:nvSpPr>
        <p:spPr>
          <a:xfrm>
            <a:off x="9052560" y="2669499"/>
            <a:ext cx="2633472" cy="194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2B2925"/>
                </a:solidFill>
                <a:latin typeface="Arial"/>
              </a:rPr>
              <a:t>Data &amp; Auth</a:t>
            </a:r>
          </a:p>
        </p:txBody>
      </p:sp>
      <p:sp>
        <p:nvSpPr>
          <p:cNvPr id="17480" name="TextBox 17479"/>
          <p:cNvSpPr txBox="1"/>
          <p:nvPr/>
        </p:nvSpPr>
        <p:spPr>
          <a:xfrm>
            <a:off x="9052560" y="2846641"/>
            <a:ext cx="2633472" cy="194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827B6F"/>
                </a:solidFill>
                <a:latin typeface="Arial"/>
              </a:rPr>
              <a:t>Supabase · PostgreSQL · RLS</a:t>
            </a:r>
          </a:p>
        </p:txBody>
      </p:sp>
      <p:sp>
        <p:nvSpPr>
          <p:cNvPr id="17481" name="Rounded Rectangle 17480"/>
          <p:cNvSpPr/>
          <p:nvPr/>
        </p:nvSpPr>
        <p:spPr>
          <a:xfrm>
            <a:off x="8138160" y="3112389"/>
            <a:ext cx="3685032" cy="421766"/>
          </a:xfrm>
          <a:prstGeom prst="roundRect">
            <a:avLst>
              <a:gd name="adj" fmla="val 18000"/>
            </a:avLst>
          </a:prstGeom>
          <a:solidFill>
            <a:srgbClr val="ED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2" name="TextBox 17481"/>
          <p:cNvSpPr txBox="1"/>
          <p:nvPr/>
        </p:nvSpPr>
        <p:spPr>
          <a:xfrm>
            <a:off x="8229600" y="3112389"/>
            <a:ext cx="384048" cy="4217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C6630"/>
                </a:solidFill>
                <a:latin typeface="Arial"/>
              </a:rPr>
              <a:t>04</a:t>
            </a:r>
          </a:p>
        </p:txBody>
      </p:sp>
      <p:pic>
        <p:nvPicPr>
          <p:cNvPr id="17483" name="Picture 17482" descr="map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32520" y="3231832"/>
            <a:ext cx="182880" cy="182880"/>
          </a:xfrm>
          <a:prstGeom prst="rect">
            <a:avLst/>
          </a:prstGeom>
        </p:spPr>
      </p:pic>
      <p:sp>
        <p:nvSpPr>
          <p:cNvPr id="17484" name="TextBox 17483"/>
          <p:cNvSpPr txBox="1"/>
          <p:nvPr/>
        </p:nvSpPr>
        <p:spPr>
          <a:xfrm>
            <a:off x="9052560" y="3146130"/>
            <a:ext cx="2633472" cy="194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2B2925"/>
                </a:solidFill>
                <a:latin typeface="Arial"/>
              </a:rPr>
              <a:t>Mapping</a:t>
            </a:r>
          </a:p>
        </p:txBody>
      </p:sp>
      <p:sp>
        <p:nvSpPr>
          <p:cNvPr id="17485" name="TextBox 17484"/>
          <p:cNvSpPr txBox="1"/>
          <p:nvPr/>
        </p:nvSpPr>
        <p:spPr>
          <a:xfrm>
            <a:off x="9052560" y="3323272"/>
            <a:ext cx="2633472" cy="194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827B6F"/>
                </a:solidFill>
                <a:latin typeface="Arial"/>
              </a:rPr>
              <a:t>Leaflet · React-Leaflet</a:t>
            </a:r>
          </a:p>
        </p:txBody>
      </p:sp>
      <p:sp>
        <p:nvSpPr>
          <p:cNvPr id="17486" name="Rounded Rectangle 17485"/>
          <p:cNvSpPr/>
          <p:nvPr/>
        </p:nvSpPr>
        <p:spPr>
          <a:xfrm>
            <a:off x="8138160" y="3589020"/>
            <a:ext cx="3685032" cy="421766"/>
          </a:xfrm>
          <a:prstGeom prst="roundRect">
            <a:avLst>
              <a:gd name="adj" fmla="val 18000"/>
            </a:avLst>
          </a:prstGeom>
          <a:solidFill>
            <a:srgbClr val="ED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7" name="TextBox 17486"/>
          <p:cNvSpPr txBox="1"/>
          <p:nvPr/>
        </p:nvSpPr>
        <p:spPr>
          <a:xfrm>
            <a:off x="8229600" y="3589020"/>
            <a:ext cx="384048" cy="4217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C6630"/>
                </a:solidFill>
                <a:latin typeface="Arial"/>
              </a:rPr>
              <a:t>05</a:t>
            </a:r>
          </a:p>
        </p:txBody>
      </p:sp>
      <p:pic>
        <p:nvPicPr>
          <p:cNvPr id="17488" name="Picture 17487" descr="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3708463"/>
            <a:ext cx="182880" cy="182880"/>
          </a:xfrm>
          <a:prstGeom prst="rect">
            <a:avLst/>
          </a:prstGeom>
        </p:spPr>
      </p:pic>
      <p:sp>
        <p:nvSpPr>
          <p:cNvPr id="17489" name="TextBox 17488"/>
          <p:cNvSpPr txBox="1"/>
          <p:nvPr/>
        </p:nvSpPr>
        <p:spPr>
          <a:xfrm>
            <a:off x="9052560" y="3622761"/>
            <a:ext cx="2633472" cy="194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2B2925"/>
                </a:solidFill>
                <a:latin typeface="Arial"/>
              </a:rPr>
              <a:t>Speech Input</a:t>
            </a:r>
          </a:p>
        </p:txBody>
      </p:sp>
      <p:sp>
        <p:nvSpPr>
          <p:cNvPr id="17490" name="TextBox 17489"/>
          <p:cNvSpPr txBox="1"/>
          <p:nvPr/>
        </p:nvSpPr>
        <p:spPr>
          <a:xfrm>
            <a:off x="9052560" y="3799903"/>
            <a:ext cx="2633472" cy="194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827B6F"/>
                </a:solidFill>
                <a:latin typeface="Arial"/>
              </a:rPr>
              <a:t>Web Speech API (en-IN/hi-IN/te-IN)</a:t>
            </a:r>
          </a:p>
        </p:txBody>
      </p:sp>
      <p:sp>
        <p:nvSpPr>
          <p:cNvPr id="17491" name="Rounded Rectangle 17490"/>
          <p:cNvSpPr/>
          <p:nvPr/>
        </p:nvSpPr>
        <p:spPr>
          <a:xfrm>
            <a:off x="8138160" y="4065651"/>
            <a:ext cx="3685032" cy="421766"/>
          </a:xfrm>
          <a:prstGeom prst="roundRect">
            <a:avLst>
              <a:gd name="adj" fmla="val 18000"/>
            </a:avLst>
          </a:prstGeom>
          <a:solidFill>
            <a:srgbClr val="ED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2" name="TextBox 17491"/>
          <p:cNvSpPr txBox="1"/>
          <p:nvPr/>
        </p:nvSpPr>
        <p:spPr>
          <a:xfrm>
            <a:off x="8229600" y="4065651"/>
            <a:ext cx="384048" cy="4217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C6630"/>
                </a:solidFill>
                <a:latin typeface="Arial"/>
              </a:rPr>
              <a:t>06</a:t>
            </a:r>
          </a:p>
        </p:txBody>
      </p:sp>
      <p:pic>
        <p:nvPicPr>
          <p:cNvPr id="17493" name="Picture 17492" descr="cod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32520" y="4185094"/>
            <a:ext cx="182880" cy="182880"/>
          </a:xfrm>
          <a:prstGeom prst="rect">
            <a:avLst/>
          </a:prstGeom>
        </p:spPr>
      </p:pic>
      <p:sp>
        <p:nvSpPr>
          <p:cNvPr id="17494" name="TextBox 17493"/>
          <p:cNvSpPr txBox="1"/>
          <p:nvPr/>
        </p:nvSpPr>
        <p:spPr>
          <a:xfrm>
            <a:off x="9052560" y="4099392"/>
            <a:ext cx="2633472" cy="194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2B2925"/>
                </a:solidFill>
                <a:latin typeface="Arial"/>
              </a:rPr>
              <a:t>UI Icons</a:t>
            </a:r>
          </a:p>
        </p:txBody>
      </p:sp>
      <p:sp>
        <p:nvSpPr>
          <p:cNvPr id="17495" name="TextBox 17494"/>
          <p:cNvSpPr txBox="1"/>
          <p:nvPr/>
        </p:nvSpPr>
        <p:spPr>
          <a:xfrm>
            <a:off x="9052560" y="4276534"/>
            <a:ext cx="2633472" cy="194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827B6F"/>
                </a:solidFill>
                <a:latin typeface="Arial"/>
              </a:rPr>
              <a:t>lucide-react</a:t>
            </a:r>
          </a:p>
        </p:txBody>
      </p:sp>
      <p:sp>
        <p:nvSpPr>
          <p:cNvPr id="17496" name="Rounded Rectangle 17495"/>
          <p:cNvSpPr/>
          <p:nvPr/>
        </p:nvSpPr>
        <p:spPr>
          <a:xfrm>
            <a:off x="8138160" y="4542282"/>
            <a:ext cx="3685032" cy="421766"/>
          </a:xfrm>
          <a:prstGeom prst="roundRect">
            <a:avLst>
              <a:gd name="adj" fmla="val 18000"/>
            </a:avLst>
          </a:prstGeom>
          <a:solidFill>
            <a:srgbClr val="ED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7" name="TextBox 17496"/>
          <p:cNvSpPr txBox="1"/>
          <p:nvPr/>
        </p:nvSpPr>
        <p:spPr>
          <a:xfrm>
            <a:off x="8229600" y="4542282"/>
            <a:ext cx="384048" cy="4217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C6630"/>
                </a:solidFill>
                <a:latin typeface="Arial"/>
              </a:rPr>
              <a:t>07</a:t>
            </a:r>
          </a:p>
        </p:txBody>
      </p:sp>
      <p:pic>
        <p:nvPicPr>
          <p:cNvPr id="17498" name="Picture 17497" descr="clou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32520" y="4661725"/>
            <a:ext cx="182880" cy="182880"/>
          </a:xfrm>
          <a:prstGeom prst="rect">
            <a:avLst/>
          </a:prstGeom>
        </p:spPr>
      </p:pic>
      <p:sp>
        <p:nvSpPr>
          <p:cNvPr id="17499" name="TextBox 17498"/>
          <p:cNvSpPr txBox="1"/>
          <p:nvPr/>
        </p:nvSpPr>
        <p:spPr>
          <a:xfrm>
            <a:off x="9052560" y="4576023"/>
            <a:ext cx="2633472" cy="194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2B2925"/>
                </a:solidFill>
                <a:latin typeface="Arial"/>
              </a:rPr>
              <a:t>Hosting</a:t>
            </a:r>
          </a:p>
        </p:txBody>
      </p:sp>
      <p:sp>
        <p:nvSpPr>
          <p:cNvPr id="17500" name="TextBox 17499"/>
          <p:cNvSpPr txBox="1"/>
          <p:nvPr/>
        </p:nvSpPr>
        <p:spPr>
          <a:xfrm>
            <a:off x="9052560" y="4753165"/>
            <a:ext cx="2633472" cy="194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827B6F"/>
                </a:solidFill>
                <a:latin typeface="Arial"/>
              </a:rPr>
              <a:t>Netlify Edge CDN</a:t>
            </a:r>
          </a:p>
        </p:txBody>
      </p:sp>
      <p:sp>
        <p:nvSpPr>
          <p:cNvPr id="17501" name="Rounded Rectangle 17500"/>
          <p:cNvSpPr/>
          <p:nvPr/>
        </p:nvSpPr>
        <p:spPr>
          <a:xfrm>
            <a:off x="8138160" y="5018913"/>
            <a:ext cx="3685032" cy="421766"/>
          </a:xfrm>
          <a:prstGeom prst="roundRect">
            <a:avLst>
              <a:gd name="adj" fmla="val 18000"/>
            </a:avLst>
          </a:prstGeom>
          <a:solidFill>
            <a:srgbClr val="ED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2" name="TextBox 17501"/>
          <p:cNvSpPr txBox="1"/>
          <p:nvPr/>
        </p:nvSpPr>
        <p:spPr>
          <a:xfrm>
            <a:off x="8229600" y="5018913"/>
            <a:ext cx="384048" cy="4217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C6630"/>
                </a:solidFill>
                <a:latin typeface="Arial"/>
              </a:rPr>
              <a:t>08</a:t>
            </a:r>
          </a:p>
        </p:txBody>
      </p:sp>
      <p:pic>
        <p:nvPicPr>
          <p:cNvPr id="17503" name="Picture 17502" descr="offlin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32520" y="5138356"/>
            <a:ext cx="182880" cy="182880"/>
          </a:xfrm>
          <a:prstGeom prst="rect">
            <a:avLst/>
          </a:prstGeom>
        </p:spPr>
      </p:pic>
      <p:sp>
        <p:nvSpPr>
          <p:cNvPr id="17504" name="TextBox 17503"/>
          <p:cNvSpPr txBox="1"/>
          <p:nvPr/>
        </p:nvSpPr>
        <p:spPr>
          <a:xfrm>
            <a:off x="9052560" y="5052654"/>
            <a:ext cx="2633472" cy="194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 i="0">
                <a:solidFill>
                  <a:srgbClr val="2B2925"/>
                </a:solidFill>
                <a:latin typeface="Arial"/>
              </a:rPr>
              <a:t>Offline Queue*</a:t>
            </a:r>
          </a:p>
        </p:txBody>
      </p:sp>
      <p:sp>
        <p:nvSpPr>
          <p:cNvPr id="17505" name="TextBox 17504"/>
          <p:cNvSpPr txBox="1"/>
          <p:nvPr/>
        </p:nvSpPr>
        <p:spPr>
          <a:xfrm>
            <a:off x="9052560" y="5229796"/>
            <a:ext cx="2633472" cy="194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827B6F"/>
                </a:solidFill>
                <a:latin typeface="Arial"/>
              </a:rPr>
              <a:t>IndexedDB (documented)</a:t>
            </a:r>
          </a:p>
        </p:txBody>
      </p:sp>
      <p:sp>
        <p:nvSpPr>
          <p:cNvPr id="17506" name="Rounded Rectangle 17505"/>
          <p:cNvSpPr/>
          <p:nvPr/>
        </p:nvSpPr>
        <p:spPr>
          <a:xfrm>
            <a:off x="365760" y="5568696"/>
            <a:ext cx="5637276" cy="7132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CC663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507" name="Picture 17506" descr="futur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39496" y="5824728"/>
            <a:ext cx="201168" cy="201168"/>
          </a:xfrm>
          <a:prstGeom prst="rect">
            <a:avLst/>
          </a:prstGeom>
        </p:spPr>
      </p:pic>
      <p:sp>
        <p:nvSpPr>
          <p:cNvPr id="17508" name="TextBox 17507"/>
          <p:cNvSpPr txBox="1"/>
          <p:nvPr/>
        </p:nvSpPr>
        <p:spPr>
          <a:xfrm>
            <a:off x="868680" y="5623559"/>
            <a:ext cx="499719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0" i="1" dirty="0">
                <a:solidFill>
                  <a:srgbClr val="873F27"/>
                </a:solidFill>
                <a:latin typeface="Arial"/>
              </a:rPr>
              <a:t>FUTURE SCOPE: </a:t>
            </a:r>
            <a:r>
              <a:rPr sz="860" b="0" i="1" dirty="0" err="1">
                <a:solidFill>
                  <a:srgbClr val="873F27"/>
                </a:solidFill>
                <a:latin typeface="Arial"/>
              </a:rPr>
              <a:t>Supabase</a:t>
            </a:r>
            <a:r>
              <a:rPr sz="860" b="0" i="1" dirty="0">
                <a:solidFill>
                  <a:srgbClr val="873F27"/>
                </a:solidFill>
                <a:latin typeface="Arial"/>
              </a:rPr>
              <a:t> Edge Functions as an extensible automation/AI layer (not implemented in current build).</a:t>
            </a:r>
          </a:p>
        </p:txBody>
      </p:sp>
      <p:sp>
        <p:nvSpPr>
          <p:cNvPr id="17509" name="Rounded Rectangle 17508"/>
          <p:cNvSpPr/>
          <p:nvPr/>
        </p:nvSpPr>
        <p:spPr>
          <a:xfrm>
            <a:off x="6185916" y="5568696"/>
            <a:ext cx="5637276" cy="713232"/>
          </a:xfrm>
          <a:prstGeom prst="roundRect">
            <a:avLst>
              <a:gd name="adj" fmla="val 14000"/>
            </a:avLst>
          </a:prstGeom>
          <a:solidFill>
            <a:srgbClr val="FB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510" name="Picture 17509" descr="warning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59652" y="5824728"/>
            <a:ext cx="201168" cy="201168"/>
          </a:xfrm>
          <a:prstGeom prst="rect">
            <a:avLst/>
          </a:prstGeom>
        </p:spPr>
      </p:pic>
      <p:sp>
        <p:nvSpPr>
          <p:cNvPr id="17511" name="TextBox 17510"/>
          <p:cNvSpPr txBox="1"/>
          <p:nvPr/>
        </p:nvSpPr>
        <p:spPr>
          <a:xfrm>
            <a:off x="6688836" y="5623559"/>
            <a:ext cx="499719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60" b="0" i="1">
                <a:solidFill>
                  <a:srgbClr val="6B4A02"/>
                </a:solidFill>
                <a:latin typeface="Arial"/>
              </a:rPr>
              <a:t>ACCURACY NOTE: Triage is a deterministic RULE-BASED ENGINE — no trained/hosted ML model is confirmed in the codebase; not presented as AI diagnosis.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6089904"/>
            <a:ext cx="91440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accent5">
                    <a:lumMod val="75000"/>
                  </a:schemeClr>
                </a:solidFill>
                <a:latin typeface="Niagara Solid" panose="04020502070702020202" pitchFamily="82" charset="0"/>
                <a:cs typeface="Aldhabi" panose="020F0502020204030204" pitchFamily="2" charset="-78"/>
              </a:rPr>
              <a:t>ChaoTics</a:t>
            </a:r>
            <a:endParaRPr lang="en-IN" sz="2400" dirty="0">
              <a:solidFill>
                <a:schemeClr val="accent5">
                  <a:lumMod val="75000"/>
                </a:schemeClr>
              </a:solidFill>
              <a:latin typeface="Niagara Solid" panose="04020502070702020202" pitchFamily="82" charset="0"/>
              <a:cs typeface="Aldhabi" panose="020F0502020204030204" pitchFamily="2" charset="-78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411480" y="1152144"/>
            <a:ext cx="3520440" cy="237744"/>
          </a:xfrm>
          <a:prstGeom prst="rect">
            <a:avLst/>
          </a:prstGeom>
          <a:noFill/>
        </p:spPr>
        <p:txBody>
          <a:bodyPr wrap="square" lIns="27432" tIns="16459" rIns="27432" bIns="16459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C2362B"/>
                </a:solidFill>
                <a:latin typeface="Times New Roman"/>
              </a:rPr>
              <a:t>CHALLENGE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315968" y="1152144"/>
            <a:ext cx="4160520" cy="237744"/>
          </a:xfrm>
          <a:prstGeom prst="rect">
            <a:avLst/>
          </a:prstGeom>
          <a:noFill/>
        </p:spPr>
        <p:txBody>
          <a:bodyPr wrap="square" lIns="27432" tIns="16459" rIns="27432" bIns="16459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375C24"/>
                </a:solidFill>
                <a:latin typeface="Times New Roman"/>
              </a:rPr>
              <a:t>JEEVSETU RESPONSE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8851392" y="1152144"/>
            <a:ext cx="2926080" cy="237744"/>
          </a:xfrm>
          <a:prstGeom prst="rect">
            <a:avLst/>
          </a:prstGeom>
          <a:noFill/>
        </p:spPr>
        <p:txBody>
          <a:bodyPr wrap="square" lIns="27432" tIns="16459" rIns="27432" bIns="16459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i="0">
                <a:solidFill>
                  <a:srgbClr val="1F6F73"/>
                </a:solidFill>
                <a:latin typeface="Times New Roman"/>
              </a:rPr>
              <a:t>WHY IT'S FEASIBLE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11480" y="1444752"/>
            <a:ext cx="3520440" cy="618134"/>
          </a:xfrm>
          <a:prstGeom prst="roundRect">
            <a:avLst>
              <a:gd name="adj" fmla="val 14000"/>
            </a:avLst>
          </a:prstGeom>
          <a:solidFill>
            <a:srgbClr val="FBEAE8"/>
          </a:solidFill>
          <a:ln w="9525">
            <a:solidFill>
              <a:srgbClr val="C23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Oval 17414"/>
          <p:cNvSpPr/>
          <p:nvPr/>
        </p:nvSpPr>
        <p:spPr>
          <a:xfrm>
            <a:off x="502920" y="1589227"/>
            <a:ext cx="329184" cy="329184"/>
          </a:xfrm>
          <a:prstGeom prst="ellipse">
            <a:avLst/>
          </a:prstGeom>
          <a:solidFill>
            <a:srgbClr val="C2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Isosceles Triangle 17415"/>
          <p:cNvSpPr/>
          <p:nvPr/>
        </p:nvSpPr>
        <p:spPr>
          <a:xfrm>
            <a:off x="588771" y="1695619"/>
            <a:ext cx="157481" cy="13694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658294" y="1791477"/>
            <a:ext cx="18434" cy="18434"/>
          </a:xfrm>
          <a:prstGeom prst="ellipse">
            <a:avLst/>
          </a:prstGeom>
          <a:solidFill>
            <a:srgbClr val="C2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Rectangle 17417"/>
          <p:cNvSpPr/>
          <p:nvPr/>
        </p:nvSpPr>
        <p:spPr>
          <a:xfrm>
            <a:off x="660928" y="1743548"/>
            <a:ext cx="13167" cy="34235"/>
          </a:xfrm>
          <a:prstGeom prst="rect">
            <a:avLst/>
          </a:prstGeom>
          <a:solidFill>
            <a:srgbClr val="C2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TextBox 17418"/>
          <p:cNvSpPr txBox="1"/>
          <p:nvPr/>
        </p:nvSpPr>
        <p:spPr>
          <a:xfrm>
            <a:off x="886968" y="1444752"/>
            <a:ext cx="2953512" cy="618134"/>
          </a:xfrm>
          <a:prstGeom prst="rect">
            <a:avLst/>
          </a:prstGeom>
          <a:noFill/>
        </p:spPr>
        <p:txBody>
          <a:bodyPr wrap="square" lIns="18288" tIns="10972" rIns="18288" bIns="10972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30" b="1" i="0">
                <a:solidFill>
                  <a:srgbClr val="2B2925"/>
                </a:solidFill>
                <a:latin typeface="Arial"/>
              </a:rPr>
              <a:t>Rural connectivity is patchy or absent</a:t>
            </a:r>
          </a:p>
        </p:txBody>
      </p:sp>
      <p:sp>
        <p:nvSpPr>
          <p:cNvPr id="17420" name="Chevron 17419"/>
          <p:cNvSpPr/>
          <p:nvPr/>
        </p:nvSpPr>
        <p:spPr>
          <a:xfrm>
            <a:off x="3977639" y="1630192"/>
            <a:ext cx="292608" cy="247253"/>
          </a:xfrm>
          <a:prstGeom prst="chevron">
            <a:avLst/>
          </a:prstGeom>
          <a:solidFill>
            <a:srgbClr val="BEB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Rounded Rectangle 17420"/>
          <p:cNvSpPr/>
          <p:nvPr/>
        </p:nvSpPr>
        <p:spPr>
          <a:xfrm>
            <a:off x="4315968" y="1444752"/>
            <a:ext cx="4160520" cy="618134"/>
          </a:xfrm>
          <a:prstGeom prst="roundRect">
            <a:avLst>
              <a:gd name="adj" fmla="val 14000"/>
            </a:avLst>
          </a:prstGeom>
          <a:solidFill>
            <a:srgbClr val="F4F9F1"/>
          </a:solidFill>
          <a:ln w="9525">
            <a:solidFill>
              <a:srgbClr val="5A9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4462272" y="1444752"/>
            <a:ext cx="3886200" cy="618134"/>
          </a:xfrm>
          <a:prstGeom prst="rect">
            <a:avLst/>
          </a:prstGeom>
          <a:noFill/>
        </p:spPr>
        <p:txBody>
          <a:bodyPr wrap="square" lIns="18288" tIns="10972" rIns="18288" bIns="10972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60" b="1" i="0">
                <a:solidFill>
                  <a:srgbClr val="2E4A20"/>
                </a:solidFill>
                <a:latin typeface="Arial"/>
              </a:rPr>
              <a:t>Offline-First Reporting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819" b="0" i="0">
                <a:solidFill>
                  <a:srgbClr val="524E47"/>
                </a:solidFill>
                <a:latin typeface="Arial"/>
              </a:rPr>
              <a:t>Reports queue safely in IndexedDB and auto-sync once back online.</a:t>
            </a:r>
          </a:p>
        </p:txBody>
      </p:sp>
      <p:sp>
        <p:nvSpPr>
          <p:cNvPr id="17423" name="Chevron 17422"/>
          <p:cNvSpPr/>
          <p:nvPr/>
        </p:nvSpPr>
        <p:spPr>
          <a:xfrm>
            <a:off x="8522208" y="1630192"/>
            <a:ext cx="274320" cy="247253"/>
          </a:xfrm>
          <a:prstGeom prst="chevron">
            <a:avLst/>
          </a:prstGeom>
          <a:solidFill>
            <a:srgbClr val="BEB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Rounded Rectangle 17423"/>
          <p:cNvSpPr/>
          <p:nvPr/>
        </p:nvSpPr>
        <p:spPr>
          <a:xfrm>
            <a:off x="8851392" y="1444752"/>
            <a:ext cx="2926080" cy="618134"/>
          </a:xfrm>
          <a:prstGeom prst="roundRect">
            <a:avLst>
              <a:gd name="adj" fmla="val 14000"/>
            </a:avLst>
          </a:prstGeom>
          <a:solidFill>
            <a:srgbClr val="D9EDEE"/>
          </a:solidFill>
          <a:ln w="9525">
            <a:solidFill>
              <a:srgbClr val="1F6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Oval 17424"/>
          <p:cNvSpPr/>
          <p:nvPr/>
        </p:nvSpPr>
        <p:spPr>
          <a:xfrm>
            <a:off x="8942832" y="1607515"/>
            <a:ext cx="292608" cy="292608"/>
          </a:xfrm>
          <a:prstGeom prst="ellipse">
            <a:avLst/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426" name="Connector 17425"/>
          <p:cNvCxnSpPr/>
          <p:nvPr/>
        </p:nvCxnSpPr>
        <p:spPr>
          <a:xfrm>
            <a:off x="9046532" y="1756745"/>
            <a:ext cx="34996" cy="33591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7" name="Connector 17426"/>
          <p:cNvCxnSpPr/>
          <p:nvPr/>
        </p:nvCxnSpPr>
        <p:spPr>
          <a:xfrm flipV="1">
            <a:off x="9081528" y="1714258"/>
            <a:ext cx="59341" cy="76078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8" name="TextBox 17427"/>
          <p:cNvSpPr txBox="1"/>
          <p:nvPr/>
        </p:nvSpPr>
        <p:spPr>
          <a:xfrm>
            <a:off x="9290304" y="1444752"/>
            <a:ext cx="2395728" cy="618134"/>
          </a:xfrm>
          <a:prstGeom prst="rect">
            <a:avLst/>
          </a:prstGeom>
          <a:noFill/>
        </p:spPr>
        <p:txBody>
          <a:bodyPr wrap="square" lIns="18288" tIns="10972" rIns="18288" bIns="10972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840" b="0" i="0">
                <a:solidFill>
                  <a:srgbClr val="123C3D"/>
                </a:solidFill>
                <a:latin typeface="Arial"/>
              </a:rPr>
              <a:t>No dependency on continuous connectivity for core reporting.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411480" y="2136038"/>
            <a:ext cx="3520440" cy="618134"/>
          </a:xfrm>
          <a:prstGeom prst="roundRect">
            <a:avLst>
              <a:gd name="adj" fmla="val 14000"/>
            </a:avLst>
          </a:prstGeom>
          <a:solidFill>
            <a:srgbClr val="FBEAE8"/>
          </a:solidFill>
          <a:ln w="9525">
            <a:solidFill>
              <a:srgbClr val="C23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Oval 17429"/>
          <p:cNvSpPr/>
          <p:nvPr/>
        </p:nvSpPr>
        <p:spPr>
          <a:xfrm>
            <a:off x="502920" y="2280513"/>
            <a:ext cx="329184" cy="329184"/>
          </a:xfrm>
          <a:prstGeom prst="ellipse">
            <a:avLst/>
          </a:prstGeom>
          <a:solidFill>
            <a:srgbClr val="C2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Isosceles Triangle 17430"/>
          <p:cNvSpPr/>
          <p:nvPr/>
        </p:nvSpPr>
        <p:spPr>
          <a:xfrm>
            <a:off x="588771" y="2386905"/>
            <a:ext cx="157481" cy="13694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Oval 17431"/>
          <p:cNvSpPr/>
          <p:nvPr/>
        </p:nvSpPr>
        <p:spPr>
          <a:xfrm>
            <a:off x="658294" y="2482764"/>
            <a:ext cx="18434" cy="18434"/>
          </a:xfrm>
          <a:prstGeom prst="ellipse">
            <a:avLst/>
          </a:prstGeom>
          <a:solidFill>
            <a:srgbClr val="C2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Rectangle 17432"/>
          <p:cNvSpPr/>
          <p:nvPr/>
        </p:nvSpPr>
        <p:spPr>
          <a:xfrm>
            <a:off x="660928" y="2434835"/>
            <a:ext cx="13167" cy="34235"/>
          </a:xfrm>
          <a:prstGeom prst="rect">
            <a:avLst/>
          </a:prstGeom>
          <a:solidFill>
            <a:srgbClr val="C2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886968" y="2136038"/>
            <a:ext cx="2953512" cy="618134"/>
          </a:xfrm>
          <a:prstGeom prst="rect">
            <a:avLst/>
          </a:prstGeom>
          <a:noFill/>
        </p:spPr>
        <p:txBody>
          <a:bodyPr wrap="square" lIns="18288" tIns="10972" rIns="18288" bIns="10972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30" b="1" i="0">
                <a:solidFill>
                  <a:srgbClr val="2B2925"/>
                </a:solidFill>
                <a:latin typeface="Arial"/>
              </a:rPr>
              <a:t>Language &amp; literacy barriers among field-level farmers</a:t>
            </a:r>
          </a:p>
        </p:txBody>
      </p:sp>
      <p:sp>
        <p:nvSpPr>
          <p:cNvPr id="17435" name="Chevron 17434"/>
          <p:cNvSpPr/>
          <p:nvPr/>
        </p:nvSpPr>
        <p:spPr>
          <a:xfrm>
            <a:off x="3977639" y="2321478"/>
            <a:ext cx="292608" cy="247253"/>
          </a:xfrm>
          <a:prstGeom prst="chevron">
            <a:avLst/>
          </a:prstGeom>
          <a:solidFill>
            <a:srgbClr val="BEB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6" name="Rounded Rectangle 17435"/>
          <p:cNvSpPr/>
          <p:nvPr/>
        </p:nvSpPr>
        <p:spPr>
          <a:xfrm>
            <a:off x="4315968" y="2136038"/>
            <a:ext cx="4160520" cy="618134"/>
          </a:xfrm>
          <a:prstGeom prst="roundRect">
            <a:avLst>
              <a:gd name="adj" fmla="val 14000"/>
            </a:avLst>
          </a:prstGeom>
          <a:solidFill>
            <a:srgbClr val="F4F9F1"/>
          </a:solidFill>
          <a:ln w="9525">
            <a:solidFill>
              <a:srgbClr val="5A9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TextBox 17436"/>
          <p:cNvSpPr txBox="1"/>
          <p:nvPr/>
        </p:nvSpPr>
        <p:spPr>
          <a:xfrm>
            <a:off x="4462272" y="2136038"/>
            <a:ext cx="3886200" cy="618134"/>
          </a:xfrm>
          <a:prstGeom prst="rect">
            <a:avLst/>
          </a:prstGeom>
          <a:noFill/>
        </p:spPr>
        <p:txBody>
          <a:bodyPr wrap="square" lIns="18288" tIns="10972" rIns="18288" bIns="10972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60" b="1" i="0">
                <a:solidFill>
                  <a:srgbClr val="2E4A20"/>
                </a:solidFill>
                <a:latin typeface="Arial"/>
              </a:rPr>
              <a:t>Multilingual Voice Input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819" b="0" i="0">
                <a:solidFill>
                  <a:srgbClr val="524E47"/>
                </a:solidFill>
                <a:latin typeface="Arial"/>
              </a:rPr>
              <a:t>Native dictation in English, Hindi or Telugu via the browser — zero cost.</a:t>
            </a:r>
          </a:p>
        </p:txBody>
      </p:sp>
      <p:sp>
        <p:nvSpPr>
          <p:cNvPr id="17438" name="Chevron 17437"/>
          <p:cNvSpPr/>
          <p:nvPr/>
        </p:nvSpPr>
        <p:spPr>
          <a:xfrm>
            <a:off x="8522208" y="2321478"/>
            <a:ext cx="274320" cy="247253"/>
          </a:xfrm>
          <a:prstGeom prst="chevron">
            <a:avLst/>
          </a:prstGeom>
          <a:solidFill>
            <a:srgbClr val="BEB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Rounded Rectangle 17438"/>
          <p:cNvSpPr/>
          <p:nvPr/>
        </p:nvSpPr>
        <p:spPr>
          <a:xfrm>
            <a:off x="8851392" y="2136038"/>
            <a:ext cx="2926080" cy="618134"/>
          </a:xfrm>
          <a:prstGeom prst="roundRect">
            <a:avLst>
              <a:gd name="adj" fmla="val 14000"/>
            </a:avLst>
          </a:prstGeom>
          <a:solidFill>
            <a:srgbClr val="D9EDEE"/>
          </a:solidFill>
          <a:ln w="9525">
            <a:solidFill>
              <a:srgbClr val="1F6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0" name="Oval 17439"/>
          <p:cNvSpPr/>
          <p:nvPr/>
        </p:nvSpPr>
        <p:spPr>
          <a:xfrm>
            <a:off x="8942832" y="2298801"/>
            <a:ext cx="292608" cy="292608"/>
          </a:xfrm>
          <a:prstGeom prst="ellipse">
            <a:avLst/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441" name="Connector 17440"/>
          <p:cNvCxnSpPr/>
          <p:nvPr/>
        </p:nvCxnSpPr>
        <p:spPr>
          <a:xfrm>
            <a:off x="9046532" y="2448031"/>
            <a:ext cx="34996" cy="33592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2" name="Connector 17441"/>
          <p:cNvCxnSpPr/>
          <p:nvPr/>
        </p:nvCxnSpPr>
        <p:spPr>
          <a:xfrm flipV="1">
            <a:off x="9081528" y="2405544"/>
            <a:ext cx="59341" cy="76079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3" name="TextBox 17442"/>
          <p:cNvSpPr txBox="1"/>
          <p:nvPr/>
        </p:nvSpPr>
        <p:spPr>
          <a:xfrm>
            <a:off x="9290304" y="2136038"/>
            <a:ext cx="2395728" cy="618134"/>
          </a:xfrm>
          <a:prstGeom prst="rect">
            <a:avLst/>
          </a:prstGeom>
          <a:noFill/>
        </p:spPr>
        <p:txBody>
          <a:bodyPr wrap="square" lIns="18288" tIns="10972" rIns="18288" bIns="10972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840" b="0" i="0">
                <a:solidFill>
                  <a:srgbClr val="123C3D"/>
                </a:solidFill>
                <a:latin typeface="Arial"/>
              </a:rPr>
              <a:t>No paid STT service and no app-store literacy hurdle.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411480" y="2827324"/>
            <a:ext cx="3520440" cy="618134"/>
          </a:xfrm>
          <a:prstGeom prst="roundRect">
            <a:avLst>
              <a:gd name="adj" fmla="val 14000"/>
            </a:avLst>
          </a:prstGeom>
          <a:solidFill>
            <a:srgbClr val="FBEAE8"/>
          </a:solidFill>
          <a:ln w="9525">
            <a:solidFill>
              <a:srgbClr val="C23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5" name="Oval 17444"/>
          <p:cNvSpPr/>
          <p:nvPr/>
        </p:nvSpPr>
        <p:spPr>
          <a:xfrm>
            <a:off x="502920" y="2971800"/>
            <a:ext cx="329184" cy="329184"/>
          </a:xfrm>
          <a:prstGeom prst="ellipse">
            <a:avLst/>
          </a:prstGeom>
          <a:solidFill>
            <a:srgbClr val="C2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6" name="Isosceles Triangle 17445"/>
          <p:cNvSpPr/>
          <p:nvPr/>
        </p:nvSpPr>
        <p:spPr>
          <a:xfrm>
            <a:off x="588771" y="3078192"/>
            <a:ext cx="157481" cy="13694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7" name="Oval 17446"/>
          <p:cNvSpPr/>
          <p:nvPr/>
        </p:nvSpPr>
        <p:spPr>
          <a:xfrm>
            <a:off x="658294" y="3174050"/>
            <a:ext cx="18434" cy="18434"/>
          </a:xfrm>
          <a:prstGeom prst="ellipse">
            <a:avLst/>
          </a:prstGeom>
          <a:solidFill>
            <a:srgbClr val="C2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8" name="Rectangle 17447"/>
          <p:cNvSpPr/>
          <p:nvPr/>
        </p:nvSpPr>
        <p:spPr>
          <a:xfrm>
            <a:off x="660928" y="3126121"/>
            <a:ext cx="13167" cy="34235"/>
          </a:xfrm>
          <a:prstGeom prst="rect">
            <a:avLst/>
          </a:prstGeom>
          <a:solidFill>
            <a:srgbClr val="C2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9" name="TextBox 17448"/>
          <p:cNvSpPr txBox="1"/>
          <p:nvPr/>
        </p:nvSpPr>
        <p:spPr>
          <a:xfrm>
            <a:off x="886968" y="2827324"/>
            <a:ext cx="2953512" cy="618134"/>
          </a:xfrm>
          <a:prstGeom prst="rect">
            <a:avLst/>
          </a:prstGeom>
          <a:noFill/>
        </p:spPr>
        <p:txBody>
          <a:bodyPr wrap="square" lIns="18288" tIns="10972" rIns="18288" bIns="10972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30" b="1" i="0">
                <a:solidFill>
                  <a:srgbClr val="2B2925"/>
                </a:solidFill>
                <a:latin typeface="Arial"/>
              </a:rPr>
              <a:t>Delayed, informal disease reporting</a:t>
            </a:r>
          </a:p>
        </p:txBody>
      </p:sp>
      <p:sp>
        <p:nvSpPr>
          <p:cNvPr id="17450" name="Chevron 17449"/>
          <p:cNvSpPr/>
          <p:nvPr/>
        </p:nvSpPr>
        <p:spPr>
          <a:xfrm>
            <a:off x="3977639" y="3012765"/>
            <a:ext cx="292608" cy="247253"/>
          </a:xfrm>
          <a:prstGeom prst="chevron">
            <a:avLst/>
          </a:prstGeom>
          <a:solidFill>
            <a:srgbClr val="BEB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1" name="Rounded Rectangle 17450"/>
          <p:cNvSpPr/>
          <p:nvPr/>
        </p:nvSpPr>
        <p:spPr>
          <a:xfrm>
            <a:off x="4315968" y="2827324"/>
            <a:ext cx="4160520" cy="618134"/>
          </a:xfrm>
          <a:prstGeom prst="roundRect">
            <a:avLst>
              <a:gd name="adj" fmla="val 14000"/>
            </a:avLst>
          </a:prstGeom>
          <a:solidFill>
            <a:srgbClr val="F4F9F1"/>
          </a:solidFill>
          <a:ln w="9525">
            <a:solidFill>
              <a:srgbClr val="5A9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2" name="TextBox 17451"/>
          <p:cNvSpPr txBox="1"/>
          <p:nvPr/>
        </p:nvSpPr>
        <p:spPr>
          <a:xfrm>
            <a:off x="4462272" y="2827324"/>
            <a:ext cx="3886200" cy="618134"/>
          </a:xfrm>
          <a:prstGeom prst="rect">
            <a:avLst/>
          </a:prstGeom>
          <a:noFill/>
        </p:spPr>
        <p:txBody>
          <a:bodyPr wrap="square" lIns="18288" tIns="10972" rIns="18288" bIns="10972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60" b="1" i="0">
                <a:solidFill>
                  <a:srgbClr val="2E4A20"/>
                </a:solidFill>
                <a:latin typeface="Arial"/>
              </a:rPr>
              <a:t>Structured Reporting + Rule-Based Triage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819" b="0" i="0">
                <a:solidFill>
                  <a:srgbClr val="524E47"/>
                </a:solidFill>
                <a:latin typeface="Arial"/>
              </a:rPr>
              <a:t>Every report gets an instant, deterministic severity score.</a:t>
            </a:r>
          </a:p>
        </p:txBody>
      </p:sp>
      <p:sp>
        <p:nvSpPr>
          <p:cNvPr id="17453" name="Chevron 17452"/>
          <p:cNvSpPr/>
          <p:nvPr/>
        </p:nvSpPr>
        <p:spPr>
          <a:xfrm>
            <a:off x="8522208" y="3012765"/>
            <a:ext cx="274320" cy="247253"/>
          </a:xfrm>
          <a:prstGeom prst="chevron">
            <a:avLst/>
          </a:prstGeom>
          <a:solidFill>
            <a:srgbClr val="BEB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4" name="Rounded Rectangle 17453"/>
          <p:cNvSpPr/>
          <p:nvPr/>
        </p:nvSpPr>
        <p:spPr>
          <a:xfrm>
            <a:off x="8851392" y="2827324"/>
            <a:ext cx="2926080" cy="618134"/>
          </a:xfrm>
          <a:prstGeom prst="roundRect">
            <a:avLst>
              <a:gd name="adj" fmla="val 14000"/>
            </a:avLst>
          </a:prstGeom>
          <a:solidFill>
            <a:srgbClr val="D9EDEE"/>
          </a:solidFill>
          <a:ln w="9525">
            <a:solidFill>
              <a:srgbClr val="1F6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5" name="Oval 17454"/>
          <p:cNvSpPr/>
          <p:nvPr/>
        </p:nvSpPr>
        <p:spPr>
          <a:xfrm>
            <a:off x="8942832" y="2990088"/>
            <a:ext cx="292608" cy="292608"/>
          </a:xfrm>
          <a:prstGeom prst="ellipse">
            <a:avLst/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456" name="Connector 17455"/>
          <p:cNvCxnSpPr/>
          <p:nvPr/>
        </p:nvCxnSpPr>
        <p:spPr>
          <a:xfrm>
            <a:off x="9046532" y="3139318"/>
            <a:ext cx="34996" cy="33591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7" name="Connector 17456"/>
          <p:cNvCxnSpPr/>
          <p:nvPr/>
        </p:nvCxnSpPr>
        <p:spPr>
          <a:xfrm flipV="1">
            <a:off x="9081528" y="3096831"/>
            <a:ext cx="59341" cy="76078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8" name="TextBox 17457"/>
          <p:cNvSpPr txBox="1"/>
          <p:nvPr/>
        </p:nvSpPr>
        <p:spPr>
          <a:xfrm>
            <a:off x="9290304" y="2827324"/>
            <a:ext cx="2395728" cy="618134"/>
          </a:xfrm>
          <a:prstGeom prst="rect">
            <a:avLst/>
          </a:prstGeom>
          <a:noFill/>
        </p:spPr>
        <p:txBody>
          <a:bodyPr wrap="square" lIns="18288" tIns="10972" rIns="18288" bIns="10972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840" b="0" i="0">
                <a:solidFill>
                  <a:srgbClr val="123C3D"/>
                </a:solidFill>
                <a:latin typeface="Arial"/>
              </a:rPr>
              <a:t>Auditable rules a vet can verify — not a opaque model.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411480" y="3518611"/>
            <a:ext cx="3520440" cy="618134"/>
          </a:xfrm>
          <a:prstGeom prst="roundRect">
            <a:avLst>
              <a:gd name="adj" fmla="val 14000"/>
            </a:avLst>
          </a:prstGeom>
          <a:solidFill>
            <a:srgbClr val="FBEAE8"/>
          </a:solidFill>
          <a:ln w="9525">
            <a:solidFill>
              <a:srgbClr val="C23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0" name="Oval 17459"/>
          <p:cNvSpPr/>
          <p:nvPr/>
        </p:nvSpPr>
        <p:spPr>
          <a:xfrm>
            <a:off x="502920" y="3663086"/>
            <a:ext cx="329184" cy="329184"/>
          </a:xfrm>
          <a:prstGeom prst="ellipse">
            <a:avLst/>
          </a:prstGeom>
          <a:solidFill>
            <a:srgbClr val="C2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1" name="Isosceles Triangle 17460"/>
          <p:cNvSpPr/>
          <p:nvPr/>
        </p:nvSpPr>
        <p:spPr>
          <a:xfrm>
            <a:off x="588771" y="3769478"/>
            <a:ext cx="157481" cy="13694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2" name="Oval 17461"/>
          <p:cNvSpPr/>
          <p:nvPr/>
        </p:nvSpPr>
        <p:spPr>
          <a:xfrm>
            <a:off x="658294" y="3865337"/>
            <a:ext cx="18434" cy="18434"/>
          </a:xfrm>
          <a:prstGeom prst="ellipse">
            <a:avLst/>
          </a:prstGeom>
          <a:solidFill>
            <a:srgbClr val="C2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3" name="Rectangle 17462"/>
          <p:cNvSpPr/>
          <p:nvPr/>
        </p:nvSpPr>
        <p:spPr>
          <a:xfrm>
            <a:off x="660928" y="3817407"/>
            <a:ext cx="13167" cy="34235"/>
          </a:xfrm>
          <a:prstGeom prst="rect">
            <a:avLst/>
          </a:prstGeom>
          <a:solidFill>
            <a:srgbClr val="C2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4" name="TextBox 17463"/>
          <p:cNvSpPr txBox="1"/>
          <p:nvPr/>
        </p:nvSpPr>
        <p:spPr>
          <a:xfrm>
            <a:off x="886968" y="3518611"/>
            <a:ext cx="2953512" cy="618134"/>
          </a:xfrm>
          <a:prstGeom prst="rect">
            <a:avLst/>
          </a:prstGeom>
          <a:noFill/>
        </p:spPr>
        <p:txBody>
          <a:bodyPr wrap="square" lIns="18288" tIns="10972" rIns="18288" bIns="10972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30" b="1" i="0">
                <a:solidFill>
                  <a:srgbClr val="2B2925"/>
                </a:solidFill>
                <a:latin typeface="Arial"/>
              </a:rPr>
              <a:t>Fragmented, paper-based surveillance across villages</a:t>
            </a:r>
          </a:p>
        </p:txBody>
      </p:sp>
      <p:sp>
        <p:nvSpPr>
          <p:cNvPr id="17465" name="Chevron 17464"/>
          <p:cNvSpPr/>
          <p:nvPr/>
        </p:nvSpPr>
        <p:spPr>
          <a:xfrm>
            <a:off x="3977639" y="3704051"/>
            <a:ext cx="292608" cy="247253"/>
          </a:xfrm>
          <a:prstGeom prst="chevron">
            <a:avLst/>
          </a:prstGeom>
          <a:solidFill>
            <a:srgbClr val="BEB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6" name="Rounded Rectangle 17465"/>
          <p:cNvSpPr/>
          <p:nvPr/>
        </p:nvSpPr>
        <p:spPr>
          <a:xfrm>
            <a:off x="4315968" y="3518611"/>
            <a:ext cx="4160520" cy="618134"/>
          </a:xfrm>
          <a:prstGeom prst="roundRect">
            <a:avLst>
              <a:gd name="adj" fmla="val 14000"/>
            </a:avLst>
          </a:prstGeom>
          <a:solidFill>
            <a:srgbClr val="F4F9F1"/>
          </a:solidFill>
          <a:ln w="9525">
            <a:solidFill>
              <a:srgbClr val="5A9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7" name="TextBox 17466"/>
          <p:cNvSpPr txBox="1"/>
          <p:nvPr/>
        </p:nvSpPr>
        <p:spPr>
          <a:xfrm>
            <a:off x="4462272" y="3518611"/>
            <a:ext cx="3886200" cy="618134"/>
          </a:xfrm>
          <a:prstGeom prst="rect">
            <a:avLst/>
          </a:prstGeom>
          <a:noFill/>
        </p:spPr>
        <p:txBody>
          <a:bodyPr wrap="square" lIns="18288" tIns="10972" rIns="18288" bIns="10972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60" b="1" i="0">
                <a:solidFill>
                  <a:srgbClr val="2E4A20"/>
                </a:solidFill>
                <a:latin typeface="Arial"/>
              </a:rPr>
              <a:t>Centralised Records + Outbreak Map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819" b="0" i="0">
                <a:solidFill>
                  <a:srgbClr val="524E47"/>
                </a:solidFill>
                <a:latin typeface="Arial"/>
              </a:rPr>
              <a:t>PostgreSQL records plus a geospatial heatmap with automatic 3-case village triggers.</a:t>
            </a:r>
          </a:p>
        </p:txBody>
      </p:sp>
      <p:sp>
        <p:nvSpPr>
          <p:cNvPr id="17468" name="Chevron 17467"/>
          <p:cNvSpPr/>
          <p:nvPr/>
        </p:nvSpPr>
        <p:spPr>
          <a:xfrm>
            <a:off x="8522208" y="3704051"/>
            <a:ext cx="274320" cy="247253"/>
          </a:xfrm>
          <a:prstGeom prst="chevron">
            <a:avLst/>
          </a:prstGeom>
          <a:solidFill>
            <a:srgbClr val="BEB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9" name="Rounded Rectangle 17468"/>
          <p:cNvSpPr/>
          <p:nvPr/>
        </p:nvSpPr>
        <p:spPr>
          <a:xfrm>
            <a:off x="8851392" y="3518611"/>
            <a:ext cx="2926080" cy="618134"/>
          </a:xfrm>
          <a:prstGeom prst="roundRect">
            <a:avLst>
              <a:gd name="adj" fmla="val 14000"/>
            </a:avLst>
          </a:prstGeom>
          <a:solidFill>
            <a:srgbClr val="D9EDEE"/>
          </a:solidFill>
          <a:ln w="9525">
            <a:solidFill>
              <a:srgbClr val="1F6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0" name="Oval 17469"/>
          <p:cNvSpPr/>
          <p:nvPr/>
        </p:nvSpPr>
        <p:spPr>
          <a:xfrm>
            <a:off x="8942832" y="3681374"/>
            <a:ext cx="292608" cy="292608"/>
          </a:xfrm>
          <a:prstGeom prst="ellipse">
            <a:avLst/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471" name="Connector 17470"/>
          <p:cNvCxnSpPr/>
          <p:nvPr/>
        </p:nvCxnSpPr>
        <p:spPr>
          <a:xfrm>
            <a:off x="9046532" y="3830604"/>
            <a:ext cx="34996" cy="33591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72" name="Connector 17471"/>
          <p:cNvCxnSpPr/>
          <p:nvPr/>
        </p:nvCxnSpPr>
        <p:spPr>
          <a:xfrm flipV="1">
            <a:off x="9081528" y="3788117"/>
            <a:ext cx="59341" cy="76078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3" name="TextBox 17472"/>
          <p:cNvSpPr txBox="1"/>
          <p:nvPr/>
        </p:nvSpPr>
        <p:spPr>
          <a:xfrm>
            <a:off x="9290304" y="3518611"/>
            <a:ext cx="2395728" cy="618134"/>
          </a:xfrm>
          <a:prstGeom prst="rect">
            <a:avLst/>
          </a:prstGeom>
          <a:noFill/>
        </p:spPr>
        <p:txBody>
          <a:bodyPr wrap="square" lIns="18288" tIns="10972" rIns="18288" bIns="10972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840" b="0" i="0">
                <a:solidFill>
                  <a:srgbClr val="123C3D"/>
                </a:solidFill>
                <a:latin typeface="Arial"/>
              </a:rPr>
              <a:t>One source of truth per district; scales on managed Postgres.</a:t>
            </a:r>
          </a:p>
        </p:txBody>
      </p:sp>
      <p:sp>
        <p:nvSpPr>
          <p:cNvPr id="17474" name="Rounded Rectangle 17473"/>
          <p:cNvSpPr/>
          <p:nvPr/>
        </p:nvSpPr>
        <p:spPr>
          <a:xfrm>
            <a:off x="411480" y="4209897"/>
            <a:ext cx="3520440" cy="618134"/>
          </a:xfrm>
          <a:prstGeom prst="roundRect">
            <a:avLst>
              <a:gd name="adj" fmla="val 14000"/>
            </a:avLst>
          </a:prstGeom>
          <a:solidFill>
            <a:srgbClr val="FBEAE8"/>
          </a:solidFill>
          <a:ln w="9525">
            <a:solidFill>
              <a:srgbClr val="C23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5" name="Oval 17474"/>
          <p:cNvSpPr/>
          <p:nvPr/>
        </p:nvSpPr>
        <p:spPr>
          <a:xfrm>
            <a:off x="502920" y="4354372"/>
            <a:ext cx="329184" cy="329184"/>
          </a:xfrm>
          <a:prstGeom prst="ellipse">
            <a:avLst/>
          </a:prstGeom>
          <a:solidFill>
            <a:srgbClr val="C2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6" name="Isosceles Triangle 17475"/>
          <p:cNvSpPr/>
          <p:nvPr/>
        </p:nvSpPr>
        <p:spPr>
          <a:xfrm>
            <a:off x="588771" y="4460765"/>
            <a:ext cx="157481" cy="13694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7" name="Oval 17476"/>
          <p:cNvSpPr/>
          <p:nvPr/>
        </p:nvSpPr>
        <p:spPr>
          <a:xfrm>
            <a:off x="658294" y="4556623"/>
            <a:ext cx="18434" cy="18434"/>
          </a:xfrm>
          <a:prstGeom prst="ellipse">
            <a:avLst/>
          </a:prstGeom>
          <a:solidFill>
            <a:srgbClr val="C2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8" name="Rectangle 17477"/>
          <p:cNvSpPr/>
          <p:nvPr/>
        </p:nvSpPr>
        <p:spPr>
          <a:xfrm>
            <a:off x="660928" y="4508694"/>
            <a:ext cx="13167" cy="34235"/>
          </a:xfrm>
          <a:prstGeom prst="rect">
            <a:avLst/>
          </a:prstGeom>
          <a:solidFill>
            <a:srgbClr val="C2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9" name="TextBox 17478"/>
          <p:cNvSpPr txBox="1"/>
          <p:nvPr/>
        </p:nvSpPr>
        <p:spPr>
          <a:xfrm>
            <a:off x="886968" y="4209897"/>
            <a:ext cx="2953512" cy="618134"/>
          </a:xfrm>
          <a:prstGeom prst="rect">
            <a:avLst/>
          </a:prstGeom>
          <a:noFill/>
        </p:spPr>
        <p:txBody>
          <a:bodyPr wrap="square" lIns="18288" tIns="10972" rIns="18288" bIns="10972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30" b="1" i="0">
                <a:solidFill>
                  <a:srgbClr val="2B2925"/>
                </a:solidFill>
                <a:latin typeface="Arial"/>
              </a:rPr>
              <a:t>Overloaded veterinary workforce</a:t>
            </a:r>
          </a:p>
        </p:txBody>
      </p:sp>
      <p:sp>
        <p:nvSpPr>
          <p:cNvPr id="17480" name="Chevron 17479"/>
          <p:cNvSpPr/>
          <p:nvPr/>
        </p:nvSpPr>
        <p:spPr>
          <a:xfrm>
            <a:off x="3977639" y="4395337"/>
            <a:ext cx="292608" cy="247253"/>
          </a:xfrm>
          <a:prstGeom prst="chevron">
            <a:avLst/>
          </a:prstGeom>
          <a:solidFill>
            <a:srgbClr val="BEB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1" name="Rounded Rectangle 17480"/>
          <p:cNvSpPr/>
          <p:nvPr/>
        </p:nvSpPr>
        <p:spPr>
          <a:xfrm>
            <a:off x="4315968" y="4209897"/>
            <a:ext cx="4160520" cy="618134"/>
          </a:xfrm>
          <a:prstGeom prst="roundRect">
            <a:avLst>
              <a:gd name="adj" fmla="val 14000"/>
            </a:avLst>
          </a:prstGeom>
          <a:solidFill>
            <a:srgbClr val="F4F9F1"/>
          </a:solidFill>
          <a:ln w="9525">
            <a:solidFill>
              <a:srgbClr val="5A9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2" name="TextBox 17481"/>
          <p:cNvSpPr txBox="1"/>
          <p:nvPr/>
        </p:nvSpPr>
        <p:spPr>
          <a:xfrm>
            <a:off x="4462272" y="4209897"/>
            <a:ext cx="3886200" cy="618134"/>
          </a:xfrm>
          <a:prstGeom prst="rect">
            <a:avLst/>
          </a:prstGeom>
          <a:noFill/>
        </p:spPr>
        <p:txBody>
          <a:bodyPr wrap="square" lIns="18288" tIns="10972" rIns="18288" bIns="10972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60" b="1" i="0">
                <a:solidFill>
                  <a:srgbClr val="2E4A20"/>
                </a:solidFill>
                <a:latin typeface="Arial"/>
              </a:rPr>
              <a:t>Prioritised Case Queue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819" b="0" i="0">
                <a:solidFill>
                  <a:srgbClr val="524E47"/>
                </a:solidFill>
                <a:latin typeface="Arial"/>
              </a:rPr>
              <a:t>VAS case queue (Open → In Progress → Closed) with one-click lab sample requests.</a:t>
            </a:r>
          </a:p>
        </p:txBody>
      </p:sp>
      <p:sp>
        <p:nvSpPr>
          <p:cNvPr id="17483" name="Chevron 17482"/>
          <p:cNvSpPr/>
          <p:nvPr/>
        </p:nvSpPr>
        <p:spPr>
          <a:xfrm>
            <a:off x="8522208" y="4395337"/>
            <a:ext cx="274320" cy="247253"/>
          </a:xfrm>
          <a:prstGeom prst="chevron">
            <a:avLst/>
          </a:prstGeom>
          <a:solidFill>
            <a:srgbClr val="BEB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4" name="Rounded Rectangle 17483"/>
          <p:cNvSpPr/>
          <p:nvPr/>
        </p:nvSpPr>
        <p:spPr>
          <a:xfrm>
            <a:off x="8851392" y="4209897"/>
            <a:ext cx="2926080" cy="618134"/>
          </a:xfrm>
          <a:prstGeom prst="roundRect">
            <a:avLst>
              <a:gd name="adj" fmla="val 14000"/>
            </a:avLst>
          </a:prstGeom>
          <a:solidFill>
            <a:srgbClr val="D9EDEE"/>
          </a:solidFill>
          <a:ln w="9525">
            <a:solidFill>
              <a:srgbClr val="1F6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5" name="Oval 17484"/>
          <p:cNvSpPr/>
          <p:nvPr/>
        </p:nvSpPr>
        <p:spPr>
          <a:xfrm>
            <a:off x="8942832" y="4372660"/>
            <a:ext cx="292608" cy="292608"/>
          </a:xfrm>
          <a:prstGeom prst="ellipse">
            <a:avLst/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486" name="Connector 17485"/>
          <p:cNvCxnSpPr/>
          <p:nvPr/>
        </p:nvCxnSpPr>
        <p:spPr>
          <a:xfrm>
            <a:off x="9046532" y="4521890"/>
            <a:ext cx="34996" cy="33592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7" name="Connector 17486"/>
          <p:cNvCxnSpPr/>
          <p:nvPr/>
        </p:nvCxnSpPr>
        <p:spPr>
          <a:xfrm flipV="1">
            <a:off x="9081528" y="4479404"/>
            <a:ext cx="59341" cy="76078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8" name="TextBox 17487"/>
          <p:cNvSpPr txBox="1"/>
          <p:nvPr/>
        </p:nvSpPr>
        <p:spPr>
          <a:xfrm>
            <a:off x="9290304" y="4209897"/>
            <a:ext cx="2395728" cy="618134"/>
          </a:xfrm>
          <a:prstGeom prst="rect">
            <a:avLst/>
          </a:prstGeom>
          <a:noFill/>
        </p:spPr>
        <p:txBody>
          <a:bodyPr wrap="square" lIns="18288" tIns="10972" rIns="18288" bIns="10972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840" b="0" i="0">
                <a:solidFill>
                  <a:srgbClr val="123C3D"/>
                </a:solidFill>
                <a:latin typeface="Arial"/>
              </a:rPr>
              <a:t>Existing VAS / DVO roles map directly onto the app.</a:t>
            </a:r>
          </a:p>
        </p:txBody>
      </p:sp>
      <p:sp>
        <p:nvSpPr>
          <p:cNvPr id="17489" name="Rounded Rectangle 17488"/>
          <p:cNvSpPr/>
          <p:nvPr/>
        </p:nvSpPr>
        <p:spPr>
          <a:xfrm>
            <a:off x="411480" y="5047488"/>
            <a:ext cx="2156155" cy="1188720"/>
          </a:xfrm>
          <a:prstGeom prst="roundRect">
            <a:avLst>
              <a:gd name="adj" fmla="val 12000"/>
            </a:avLst>
          </a:prstGeom>
          <a:solidFill>
            <a:srgbClr val="F7F6F4"/>
          </a:solidFill>
          <a:ln w="9525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0" name="Oval 17489"/>
          <p:cNvSpPr/>
          <p:nvPr/>
        </p:nvSpPr>
        <p:spPr>
          <a:xfrm>
            <a:off x="1306677" y="5138927"/>
            <a:ext cx="365760" cy="365760"/>
          </a:xfrm>
          <a:prstGeom prst="ellipse">
            <a:avLst/>
          </a:prstGeom>
          <a:solidFill>
            <a:srgbClr val="3C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1" name="Rectangle 17490"/>
          <p:cNvSpPr/>
          <p:nvPr/>
        </p:nvSpPr>
        <p:spPr>
          <a:xfrm>
            <a:off x="1421087" y="5331317"/>
            <a:ext cx="41842" cy="684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2" name="Rectangle 17491"/>
          <p:cNvSpPr/>
          <p:nvPr/>
        </p:nvSpPr>
        <p:spPr>
          <a:xfrm>
            <a:off x="1468636" y="5291376"/>
            <a:ext cx="41842" cy="1084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3" name="Rectangle 17492"/>
          <p:cNvSpPr/>
          <p:nvPr/>
        </p:nvSpPr>
        <p:spPr>
          <a:xfrm>
            <a:off x="1516184" y="5253337"/>
            <a:ext cx="41842" cy="146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4" name="TextBox 17493"/>
          <p:cNvSpPr txBox="1"/>
          <p:nvPr/>
        </p:nvSpPr>
        <p:spPr>
          <a:xfrm>
            <a:off x="502920" y="5541264"/>
            <a:ext cx="1973275" cy="640080"/>
          </a:xfrm>
          <a:prstGeom prst="rect">
            <a:avLst/>
          </a:prstGeom>
          <a:noFill/>
        </p:spPr>
        <p:txBody>
          <a:bodyPr wrap="square" lIns="9144" tIns="5486" rIns="9144" bIns="5486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 dirty="0">
                <a:solidFill>
                  <a:srgbClr val="2B2925"/>
                </a:solidFill>
                <a:latin typeface="Arial"/>
              </a:rPr>
              <a:t>TECHNICAL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 dirty="0">
                <a:solidFill>
                  <a:srgbClr val="686259"/>
                </a:solidFill>
                <a:latin typeface="Arial"/>
              </a:rPr>
              <a:t>React 18 + TypeScript 5 builds and type-checks today (</a:t>
            </a:r>
            <a:r>
              <a:rPr sz="900" b="0" i="0" dirty="0" err="1">
                <a:solidFill>
                  <a:srgbClr val="686259"/>
                </a:solidFill>
                <a:latin typeface="Arial"/>
              </a:rPr>
              <a:t>npm</a:t>
            </a:r>
            <a:r>
              <a:rPr sz="900" b="0" i="0" dirty="0">
                <a:solidFill>
                  <a:srgbClr val="686259"/>
                </a:solidFill>
                <a:latin typeface="Arial"/>
              </a:rPr>
              <a:t> run build / </a:t>
            </a:r>
            <a:r>
              <a:rPr sz="900" b="0" i="0" dirty="0" err="1">
                <a:solidFill>
                  <a:srgbClr val="686259"/>
                </a:solidFill>
                <a:latin typeface="Arial"/>
              </a:rPr>
              <a:t>typecheck</a:t>
            </a:r>
            <a:r>
              <a:rPr sz="900" b="0" i="0" dirty="0">
                <a:solidFill>
                  <a:srgbClr val="686259"/>
                </a:solidFill>
                <a:latin typeface="Arial"/>
              </a:rPr>
              <a:t>).</a:t>
            </a:r>
          </a:p>
        </p:txBody>
      </p:sp>
      <p:sp>
        <p:nvSpPr>
          <p:cNvPr id="17495" name="Rounded Rectangle 17494"/>
          <p:cNvSpPr/>
          <p:nvPr/>
        </p:nvSpPr>
        <p:spPr>
          <a:xfrm>
            <a:off x="2713939" y="5047488"/>
            <a:ext cx="2156155" cy="1188720"/>
          </a:xfrm>
          <a:prstGeom prst="roundRect">
            <a:avLst>
              <a:gd name="adj" fmla="val 12000"/>
            </a:avLst>
          </a:prstGeom>
          <a:solidFill>
            <a:srgbClr val="F7F6F4"/>
          </a:solidFill>
          <a:ln w="9525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6" name="Oval 17495"/>
          <p:cNvSpPr/>
          <p:nvPr/>
        </p:nvSpPr>
        <p:spPr>
          <a:xfrm>
            <a:off x="3609136" y="5138927"/>
            <a:ext cx="365760" cy="365760"/>
          </a:xfrm>
          <a:prstGeom prst="ellipse">
            <a:avLst/>
          </a:prstGeom>
          <a:solidFill>
            <a:srgbClr val="3C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7" name="Cloud 17496"/>
          <p:cNvSpPr/>
          <p:nvPr/>
        </p:nvSpPr>
        <p:spPr>
          <a:xfrm>
            <a:off x="3692164" y="5253337"/>
            <a:ext cx="199704" cy="136940"/>
          </a:xfrm>
          <a:prstGeom prst="clou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8" name="TextBox 17497"/>
          <p:cNvSpPr txBox="1"/>
          <p:nvPr/>
        </p:nvSpPr>
        <p:spPr>
          <a:xfrm>
            <a:off x="2805379" y="5541264"/>
            <a:ext cx="1973275" cy="640080"/>
          </a:xfrm>
          <a:prstGeom prst="rect">
            <a:avLst/>
          </a:prstGeom>
          <a:noFill/>
        </p:spPr>
        <p:txBody>
          <a:bodyPr wrap="square" lIns="9144" tIns="5486" rIns="9144" bIns="5486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 dirty="0">
                <a:solidFill>
                  <a:srgbClr val="2B2925"/>
                </a:solidFill>
                <a:latin typeface="Arial"/>
              </a:rPr>
              <a:t>DEPLOYMENT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 dirty="0">
                <a:solidFill>
                  <a:srgbClr val="686259"/>
                </a:solidFill>
                <a:latin typeface="Arial"/>
              </a:rPr>
              <a:t>Already live on Netlify Edge CDN; </a:t>
            </a:r>
            <a:r>
              <a:rPr sz="900" b="0" i="0" dirty="0" err="1">
                <a:solidFill>
                  <a:srgbClr val="686259"/>
                </a:solidFill>
                <a:latin typeface="Arial"/>
              </a:rPr>
              <a:t>Supabase</a:t>
            </a:r>
            <a:r>
              <a:rPr sz="900" b="0" i="0" dirty="0">
                <a:solidFill>
                  <a:srgbClr val="686259"/>
                </a:solidFill>
                <a:latin typeface="Arial"/>
              </a:rPr>
              <a:t> manages Auth &amp; Postgres — no server ops.</a:t>
            </a:r>
          </a:p>
        </p:txBody>
      </p:sp>
      <p:sp>
        <p:nvSpPr>
          <p:cNvPr id="17499" name="Rounded Rectangle 17498"/>
          <p:cNvSpPr/>
          <p:nvPr/>
        </p:nvSpPr>
        <p:spPr>
          <a:xfrm>
            <a:off x="5016398" y="5047488"/>
            <a:ext cx="2156155" cy="1188720"/>
          </a:xfrm>
          <a:prstGeom prst="roundRect">
            <a:avLst>
              <a:gd name="adj" fmla="val 12000"/>
            </a:avLst>
          </a:prstGeom>
          <a:solidFill>
            <a:srgbClr val="F7F6F4"/>
          </a:solidFill>
          <a:ln w="9525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0" name="Oval 17499"/>
          <p:cNvSpPr/>
          <p:nvPr/>
        </p:nvSpPr>
        <p:spPr>
          <a:xfrm>
            <a:off x="5911596" y="5138927"/>
            <a:ext cx="365760" cy="365760"/>
          </a:xfrm>
          <a:prstGeom prst="ellipse">
            <a:avLst/>
          </a:prstGeom>
          <a:solidFill>
            <a:srgbClr val="3C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1" name="Lightning Bolt 17500"/>
          <p:cNvSpPr/>
          <p:nvPr/>
        </p:nvSpPr>
        <p:spPr>
          <a:xfrm>
            <a:off x="6042172" y="5234318"/>
            <a:ext cx="104607" cy="174979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2" name="TextBox 17501"/>
          <p:cNvSpPr txBox="1"/>
          <p:nvPr/>
        </p:nvSpPr>
        <p:spPr>
          <a:xfrm>
            <a:off x="5107838" y="5541264"/>
            <a:ext cx="1973275" cy="640080"/>
          </a:xfrm>
          <a:prstGeom prst="rect">
            <a:avLst/>
          </a:prstGeom>
          <a:noFill/>
        </p:spPr>
        <p:txBody>
          <a:bodyPr wrap="square" lIns="9144" tIns="5486" rIns="9144" bIns="5486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 dirty="0">
                <a:solidFill>
                  <a:srgbClr val="2B2925"/>
                </a:solidFill>
                <a:latin typeface="Arial"/>
              </a:rPr>
              <a:t>SCALABILITY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 dirty="0">
                <a:solidFill>
                  <a:srgbClr val="686259"/>
                </a:solidFill>
                <a:latin typeface="Arial"/>
              </a:rPr>
              <a:t>Stateless SPA + managed Postgres with RLS scales without re-architecture.</a:t>
            </a:r>
          </a:p>
        </p:txBody>
      </p:sp>
      <p:sp>
        <p:nvSpPr>
          <p:cNvPr id="17503" name="Rounded Rectangle 17502"/>
          <p:cNvSpPr/>
          <p:nvPr/>
        </p:nvSpPr>
        <p:spPr>
          <a:xfrm>
            <a:off x="7318857" y="5047488"/>
            <a:ext cx="2156155" cy="1188720"/>
          </a:xfrm>
          <a:prstGeom prst="roundRect">
            <a:avLst>
              <a:gd name="adj" fmla="val 12000"/>
            </a:avLst>
          </a:prstGeom>
          <a:solidFill>
            <a:srgbClr val="F7F6F4"/>
          </a:solidFill>
          <a:ln w="9525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4" name="Oval 17503"/>
          <p:cNvSpPr/>
          <p:nvPr/>
        </p:nvSpPr>
        <p:spPr>
          <a:xfrm>
            <a:off x="8214055" y="5138927"/>
            <a:ext cx="365760" cy="365760"/>
          </a:xfrm>
          <a:prstGeom prst="ellipse">
            <a:avLst/>
          </a:prstGeom>
          <a:solidFill>
            <a:srgbClr val="3C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5" name="Rounded Rectangle 17504"/>
          <p:cNvSpPr/>
          <p:nvPr/>
        </p:nvSpPr>
        <p:spPr>
          <a:xfrm>
            <a:off x="8364602" y="5240024"/>
            <a:ext cx="64666" cy="117921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6" name="Rectangle 17505"/>
          <p:cNvSpPr/>
          <p:nvPr/>
        </p:nvSpPr>
        <p:spPr>
          <a:xfrm>
            <a:off x="8392546" y="5356043"/>
            <a:ext cx="8778" cy="418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7" name="Rectangle 17506"/>
          <p:cNvSpPr/>
          <p:nvPr/>
        </p:nvSpPr>
        <p:spPr>
          <a:xfrm>
            <a:off x="8355092" y="5390278"/>
            <a:ext cx="83685" cy="73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8" name="TextBox 17507"/>
          <p:cNvSpPr txBox="1"/>
          <p:nvPr/>
        </p:nvSpPr>
        <p:spPr>
          <a:xfrm>
            <a:off x="7410297" y="5541264"/>
            <a:ext cx="1973275" cy="640080"/>
          </a:xfrm>
          <a:prstGeom prst="rect">
            <a:avLst/>
          </a:prstGeom>
          <a:noFill/>
        </p:spPr>
        <p:txBody>
          <a:bodyPr wrap="square" lIns="9144" tIns="5486" rIns="9144" bIns="5486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 dirty="0">
                <a:solidFill>
                  <a:srgbClr val="2B2925"/>
                </a:solidFill>
                <a:latin typeface="Arial"/>
              </a:rPr>
              <a:t>USABILITY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 dirty="0">
                <a:solidFill>
                  <a:srgbClr val="686259"/>
                </a:solidFill>
                <a:latin typeface="Arial"/>
              </a:rPr>
              <a:t>Voice-first in 3 Indian languages + offline queue removes literacy/connectivity hurdles.</a:t>
            </a:r>
          </a:p>
        </p:txBody>
      </p:sp>
      <p:sp>
        <p:nvSpPr>
          <p:cNvPr id="17509" name="Rounded Rectangle 17508"/>
          <p:cNvSpPr/>
          <p:nvPr/>
        </p:nvSpPr>
        <p:spPr>
          <a:xfrm>
            <a:off x="9621316" y="5047488"/>
            <a:ext cx="2156155" cy="1188720"/>
          </a:xfrm>
          <a:prstGeom prst="roundRect">
            <a:avLst>
              <a:gd name="adj" fmla="val 12000"/>
            </a:avLst>
          </a:prstGeom>
          <a:solidFill>
            <a:srgbClr val="F7F6F4"/>
          </a:solidFill>
          <a:ln w="9525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0" name="Oval 17509"/>
          <p:cNvSpPr/>
          <p:nvPr/>
        </p:nvSpPr>
        <p:spPr>
          <a:xfrm>
            <a:off x="10516514" y="5138927"/>
            <a:ext cx="365760" cy="365760"/>
          </a:xfrm>
          <a:prstGeom prst="ellipse">
            <a:avLst/>
          </a:prstGeom>
          <a:solidFill>
            <a:srgbClr val="3C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1" name="Oval 17510"/>
          <p:cNvSpPr/>
          <p:nvPr/>
        </p:nvSpPr>
        <p:spPr>
          <a:xfrm>
            <a:off x="10663257" y="5234318"/>
            <a:ext cx="72274" cy="7227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2" name="Rounded Rectangle 17511"/>
          <p:cNvSpPr/>
          <p:nvPr/>
        </p:nvSpPr>
        <p:spPr>
          <a:xfrm>
            <a:off x="10640433" y="5319906"/>
            <a:ext cx="117921" cy="95097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3" name="TextBox 17512"/>
          <p:cNvSpPr txBox="1"/>
          <p:nvPr/>
        </p:nvSpPr>
        <p:spPr>
          <a:xfrm>
            <a:off x="9712756" y="5541264"/>
            <a:ext cx="1973275" cy="640080"/>
          </a:xfrm>
          <a:prstGeom prst="rect">
            <a:avLst/>
          </a:prstGeom>
          <a:noFill/>
        </p:spPr>
        <p:txBody>
          <a:bodyPr wrap="square" lIns="9144" tIns="5486" rIns="9144" bIns="5486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00" b="1" i="0" dirty="0">
                <a:solidFill>
                  <a:srgbClr val="2B2925"/>
                </a:solidFill>
                <a:latin typeface="Arial"/>
              </a:rPr>
              <a:t>OPERATIONAL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00" b="0" i="0" dirty="0">
                <a:solidFill>
                  <a:srgbClr val="686259"/>
                </a:solidFill>
                <a:latin typeface="Arial"/>
              </a:rPr>
              <a:t>Farmer → VAS → DVO workflow mirrors the existing veterinary chain of command.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6089904"/>
            <a:ext cx="914400" cy="9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accent5">
                    <a:lumMod val="75000"/>
                  </a:schemeClr>
                </a:solidFill>
                <a:latin typeface="Niagara Solid" panose="04020502070702020202" pitchFamily="82" charset="0"/>
                <a:cs typeface="Aldhabi" panose="020F0502020204030204" pitchFamily="2" charset="-78"/>
              </a:rPr>
              <a:t>ChaoTics</a:t>
            </a:r>
            <a:endParaRPr lang="en-IN" sz="2400" dirty="0">
              <a:solidFill>
                <a:schemeClr val="accent5">
                  <a:lumMod val="75000"/>
                </a:schemeClr>
              </a:solidFill>
              <a:latin typeface="Niagara Solid" panose="04020502070702020202" pitchFamily="82" charset="0"/>
              <a:cs typeface="Aldhabi" panose="020F0502020204030204" pitchFamily="2" charset="-78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411480" y="1133856"/>
            <a:ext cx="11365992" cy="274320"/>
          </a:xfrm>
          <a:prstGeom prst="rect">
            <a:avLst/>
          </a:prstGeom>
          <a:noFill/>
        </p:spPr>
        <p:txBody>
          <a:bodyPr wrap="square" lIns="27432" tIns="16459" rIns="27432" bIns="16459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100" b="1" dirty="0">
                <a:solidFill>
                  <a:srgbClr val="C2362B"/>
                </a:solidFill>
                <a:latin typeface="Arial"/>
              </a:rPr>
              <a:t>Why this matters:  </a:t>
            </a:r>
            <a:r>
              <a:rPr sz="1100" b="0" dirty="0">
                <a:solidFill>
                  <a:srgbClr val="524E47"/>
                </a:solidFill>
                <a:latin typeface="Arial"/>
              </a:rPr>
              <a:t>Foot-and-Mouth Disease alone costs India an estimated ₹20,000+ crore every year¹ — and losses compound the longer an outbreak goes unreported.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180076" y="1517904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2B2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JEEVSETU</a:t>
            </a:r>
          </a:p>
        </p:txBody>
      </p:sp>
      <p:cxnSp>
        <p:nvCxnSpPr>
          <p:cNvPr id="17413" name="Connector 17412"/>
          <p:cNvCxnSpPr/>
          <p:nvPr/>
        </p:nvCxnSpPr>
        <p:spPr>
          <a:xfrm flipH="1">
            <a:off x="2229612" y="1847088"/>
            <a:ext cx="3864864" cy="164592"/>
          </a:xfrm>
          <a:prstGeom prst="line">
            <a:avLst/>
          </a:prstGeom>
          <a:ln w="17780">
            <a:solidFill>
              <a:srgbClr val="BEB8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Rounded Rectangle 17413"/>
          <p:cNvSpPr/>
          <p:nvPr/>
        </p:nvSpPr>
        <p:spPr>
          <a:xfrm>
            <a:off x="411480" y="2011680"/>
            <a:ext cx="3636264" cy="1481328"/>
          </a:xfrm>
          <a:prstGeom prst="roundRect">
            <a:avLst>
              <a:gd name="adj" fmla="val 9000"/>
            </a:avLst>
          </a:prstGeom>
          <a:solidFill>
            <a:srgbClr val="F7F6F4"/>
          </a:solidFill>
          <a:ln w="12700">
            <a:solidFill>
              <a:srgbClr val="CC6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Oval 17414"/>
          <p:cNvSpPr/>
          <p:nvPr/>
        </p:nvSpPr>
        <p:spPr>
          <a:xfrm>
            <a:off x="2019300" y="2112264"/>
            <a:ext cx="420624" cy="420624"/>
          </a:xfrm>
          <a:prstGeom prst="ellipse">
            <a:avLst/>
          </a:prstGeom>
          <a:solidFill>
            <a:srgbClr val="CC6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Oval 17415"/>
          <p:cNvSpPr/>
          <p:nvPr/>
        </p:nvSpPr>
        <p:spPr>
          <a:xfrm>
            <a:off x="2188054" y="2221962"/>
            <a:ext cx="83115" cy="8311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ounded Rectangle 17416"/>
          <p:cNvSpPr/>
          <p:nvPr/>
        </p:nvSpPr>
        <p:spPr>
          <a:xfrm>
            <a:off x="2161807" y="2320388"/>
            <a:ext cx="135609" cy="10936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557784" y="2578608"/>
            <a:ext cx="3343656" cy="822960"/>
          </a:xfrm>
          <a:prstGeom prst="rect">
            <a:avLst/>
          </a:prstGeom>
          <a:noFill/>
        </p:spPr>
        <p:txBody>
          <a:bodyPr wrap="square" lIns="9144" tIns="5486" rIns="9144" bIns="5486" anchor="t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1" i="0" dirty="0">
                <a:solidFill>
                  <a:srgbClr val="2B2925"/>
                </a:solidFill>
                <a:latin typeface="Arial"/>
              </a:rPr>
              <a:t>FARMERS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 dirty="0">
                <a:solidFill>
                  <a:srgbClr val="524E47"/>
                </a:solidFill>
                <a:latin typeface="Arial"/>
              </a:rPr>
              <a:t>•  Report symptoms without typing, in their own language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 dirty="0">
                <a:solidFill>
                  <a:srgbClr val="524E47"/>
                </a:solidFill>
                <a:latin typeface="Arial"/>
              </a:rPr>
              <a:t>•  Instant triage advice + emergency guidance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 dirty="0">
                <a:solidFill>
                  <a:srgbClr val="524E47"/>
                </a:solidFill>
                <a:latin typeface="Arial"/>
              </a:rPr>
              <a:t>•  Photo-based medical history per animal, not paperwork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6094476" y="1847088"/>
            <a:ext cx="0" cy="164592"/>
          </a:xfrm>
          <a:prstGeom prst="line">
            <a:avLst/>
          </a:prstGeom>
          <a:ln w="17780">
            <a:solidFill>
              <a:srgbClr val="BEB8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Rounded Rectangle 17419"/>
          <p:cNvSpPr/>
          <p:nvPr/>
        </p:nvSpPr>
        <p:spPr>
          <a:xfrm>
            <a:off x="4276344" y="2011680"/>
            <a:ext cx="3636264" cy="1481328"/>
          </a:xfrm>
          <a:prstGeom prst="roundRect">
            <a:avLst>
              <a:gd name="adj" fmla="val 9000"/>
            </a:avLst>
          </a:prstGeom>
          <a:solidFill>
            <a:srgbClr val="F7F6F4"/>
          </a:solidFill>
          <a:ln w="12700">
            <a:solidFill>
              <a:srgbClr val="375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Oval 17420"/>
          <p:cNvSpPr/>
          <p:nvPr/>
        </p:nvSpPr>
        <p:spPr>
          <a:xfrm>
            <a:off x="5884164" y="2112264"/>
            <a:ext cx="420624" cy="420624"/>
          </a:xfrm>
          <a:prstGeom prst="ellipse">
            <a:avLst/>
          </a:prstGeom>
          <a:solidFill>
            <a:srgbClr val="375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Cross 17421"/>
          <p:cNvSpPr/>
          <p:nvPr/>
        </p:nvSpPr>
        <p:spPr>
          <a:xfrm>
            <a:off x="5990581" y="2218681"/>
            <a:ext cx="207788" cy="207788"/>
          </a:xfrm>
          <a:prstGeom prst="plus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4422648" y="2578608"/>
            <a:ext cx="3343656" cy="822960"/>
          </a:xfrm>
          <a:prstGeom prst="rect">
            <a:avLst/>
          </a:prstGeom>
          <a:noFill/>
        </p:spPr>
        <p:txBody>
          <a:bodyPr wrap="square" lIns="9144" tIns="5486" rIns="9144" bIns="5486" anchor="t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1" i="0" dirty="0">
                <a:solidFill>
                  <a:srgbClr val="2B2925"/>
                </a:solidFill>
                <a:latin typeface="Arial"/>
              </a:rPr>
              <a:t>VETERINARY ASST. SURGEONS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 dirty="0">
                <a:solidFill>
                  <a:srgbClr val="524E47"/>
                </a:solidFill>
                <a:latin typeface="Arial"/>
              </a:rPr>
              <a:t>•  </a:t>
            </a:r>
            <a:r>
              <a:rPr sz="1000" b="0" i="0" dirty="0" err="1">
                <a:solidFill>
                  <a:srgbClr val="524E47"/>
                </a:solidFill>
                <a:latin typeface="Arial"/>
              </a:rPr>
              <a:t>Prioritised</a:t>
            </a:r>
            <a:r>
              <a:rPr sz="1000" b="0" i="0" dirty="0">
                <a:solidFill>
                  <a:srgbClr val="524E47"/>
                </a:solidFill>
                <a:latin typeface="Arial"/>
              </a:rPr>
              <a:t> case queue instead of ad hoc visits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 dirty="0">
                <a:solidFill>
                  <a:srgbClr val="524E47"/>
                </a:solidFill>
                <a:latin typeface="Arial"/>
              </a:rPr>
              <a:t>•  One-click lab sample requests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 dirty="0">
                <a:solidFill>
                  <a:srgbClr val="524E47"/>
                </a:solidFill>
                <a:latin typeface="Arial"/>
              </a:rPr>
              <a:t>•  Prescription log kept with the case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6094476" y="1847088"/>
            <a:ext cx="3864864" cy="164592"/>
          </a:xfrm>
          <a:prstGeom prst="line">
            <a:avLst/>
          </a:prstGeom>
          <a:ln w="17780">
            <a:solidFill>
              <a:srgbClr val="BEB8A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5" name="Rounded Rectangle 17424"/>
          <p:cNvSpPr/>
          <p:nvPr/>
        </p:nvSpPr>
        <p:spPr>
          <a:xfrm>
            <a:off x="8141207" y="2011680"/>
            <a:ext cx="3636264" cy="1481328"/>
          </a:xfrm>
          <a:prstGeom prst="roundRect">
            <a:avLst>
              <a:gd name="adj" fmla="val 9000"/>
            </a:avLst>
          </a:prstGeom>
          <a:solidFill>
            <a:srgbClr val="F7F6F4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Oval 17425"/>
          <p:cNvSpPr/>
          <p:nvPr/>
        </p:nvSpPr>
        <p:spPr>
          <a:xfrm>
            <a:off x="9749027" y="2112264"/>
            <a:ext cx="420624" cy="420624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Oval 17426"/>
          <p:cNvSpPr/>
          <p:nvPr/>
        </p:nvSpPr>
        <p:spPr>
          <a:xfrm>
            <a:off x="9891535" y="2221962"/>
            <a:ext cx="135609" cy="13560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Isosceles Triangle 17427"/>
          <p:cNvSpPr/>
          <p:nvPr/>
        </p:nvSpPr>
        <p:spPr>
          <a:xfrm rot="10800000">
            <a:off x="9904658" y="2309452"/>
            <a:ext cx="109362" cy="87489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8287511" y="2578608"/>
            <a:ext cx="3343656" cy="822960"/>
          </a:xfrm>
          <a:prstGeom prst="rect">
            <a:avLst/>
          </a:prstGeom>
          <a:noFill/>
        </p:spPr>
        <p:txBody>
          <a:bodyPr wrap="square" lIns="9144" tIns="5486" rIns="9144" bIns="5486" anchor="t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1000" b="1" i="0" dirty="0">
                <a:solidFill>
                  <a:srgbClr val="2B2925"/>
                </a:solidFill>
                <a:latin typeface="Arial"/>
              </a:rPr>
              <a:t>DISTRICT VET. OFFICERS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 dirty="0">
                <a:solidFill>
                  <a:srgbClr val="524E47"/>
                </a:solidFill>
                <a:latin typeface="Arial"/>
              </a:rPr>
              <a:t>•  Real-time cluster heatmap, not after-the-fact paper reports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 dirty="0">
                <a:solidFill>
                  <a:srgbClr val="524E47"/>
                </a:solidFill>
                <a:latin typeface="Arial"/>
              </a:rPr>
              <a:t>•  Automatic 3-case village trigger flags outbreaks early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0" i="0" dirty="0">
                <a:solidFill>
                  <a:srgbClr val="524E47"/>
                </a:solidFill>
                <a:latin typeface="Arial"/>
              </a:rPr>
              <a:t>•  Push geo-targeted advisories directly to farmers</a:t>
            </a:r>
          </a:p>
        </p:txBody>
      </p:sp>
      <p:sp>
        <p:nvSpPr>
          <p:cNvPr id="17430" name="Chevron 17429"/>
          <p:cNvSpPr/>
          <p:nvPr/>
        </p:nvSpPr>
        <p:spPr>
          <a:xfrm>
            <a:off x="411480" y="3639312"/>
            <a:ext cx="1545336" cy="402336"/>
          </a:xfrm>
          <a:prstGeom prst="chevron">
            <a:avLst>
              <a:gd name="adj" fmla="val 50000"/>
            </a:avLst>
          </a:prstGeom>
          <a:solidFill>
            <a:srgbClr val="CC6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860" b="1" i="0">
                <a:solidFill>
                  <a:srgbClr val="FFFFFF"/>
                </a:solidFill>
                <a:latin typeface="Arial"/>
              </a:rPr>
              <a:t>REPORT</a:t>
            </a:r>
          </a:p>
        </p:txBody>
      </p:sp>
      <p:sp>
        <p:nvSpPr>
          <p:cNvPr id="17431" name="Chevron 17430"/>
          <p:cNvSpPr/>
          <p:nvPr/>
        </p:nvSpPr>
        <p:spPr>
          <a:xfrm>
            <a:off x="2048256" y="3639312"/>
            <a:ext cx="1545336" cy="402336"/>
          </a:xfrm>
          <a:prstGeom prst="chevron">
            <a:avLst>
              <a:gd name="adj" fmla="val 50000"/>
            </a:avLst>
          </a:prstGeom>
          <a:solidFill>
            <a:srgbClr val="E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860" b="1" i="0">
                <a:solidFill>
                  <a:srgbClr val="FFFFFF"/>
                </a:solidFill>
                <a:latin typeface="Arial"/>
              </a:rPr>
              <a:t>TRIAGE</a:t>
            </a:r>
          </a:p>
        </p:txBody>
      </p:sp>
      <p:sp>
        <p:nvSpPr>
          <p:cNvPr id="17432" name="Chevron 17431"/>
          <p:cNvSpPr/>
          <p:nvPr/>
        </p:nvSpPr>
        <p:spPr>
          <a:xfrm>
            <a:off x="3685032" y="3639312"/>
            <a:ext cx="1545336" cy="402336"/>
          </a:xfrm>
          <a:prstGeom prst="chevron">
            <a:avLst>
              <a:gd name="adj" fmla="val 50000"/>
            </a:avLst>
          </a:prstGeom>
          <a:solidFill>
            <a:srgbClr val="E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860" b="1" i="0">
                <a:solidFill>
                  <a:srgbClr val="FFFFFF"/>
                </a:solidFill>
                <a:latin typeface="Arial"/>
              </a:rPr>
              <a:t>PRIORITISE</a:t>
            </a:r>
          </a:p>
        </p:txBody>
      </p:sp>
      <p:sp>
        <p:nvSpPr>
          <p:cNvPr id="17433" name="Chevron 17432"/>
          <p:cNvSpPr/>
          <p:nvPr/>
        </p:nvSpPr>
        <p:spPr>
          <a:xfrm>
            <a:off x="5321808" y="3639312"/>
            <a:ext cx="1545336" cy="402336"/>
          </a:xfrm>
          <a:prstGeom prst="chevron">
            <a:avLst>
              <a:gd name="adj" fmla="val 50000"/>
            </a:avLst>
          </a:prstGeom>
          <a:solidFill>
            <a:srgbClr val="467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860" b="1" i="0">
                <a:solidFill>
                  <a:srgbClr val="FFFFFF"/>
                </a:solidFill>
                <a:latin typeface="Arial"/>
              </a:rPr>
              <a:t>ACT</a:t>
            </a:r>
          </a:p>
        </p:txBody>
      </p:sp>
      <p:sp>
        <p:nvSpPr>
          <p:cNvPr id="17434" name="Chevron 17433"/>
          <p:cNvSpPr/>
          <p:nvPr/>
        </p:nvSpPr>
        <p:spPr>
          <a:xfrm>
            <a:off x="6958584" y="3639312"/>
            <a:ext cx="1545336" cy="402336"/>
          </a:xfrm>
          <a:prstGeom prst="chevron">
            <a:avLst>
              <a:gd name="adj" fmla="val 50000"/>
            </a:avLst>
          </a:prstGeom>
          <a:solidFill>
            <a:srgbClr val="375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860" b="1" i="0">
                <a:solidFill>
                  <a:srgbClr val="FFFFFF"/>
                </a:solidFill>
                <a:latin typeface="Arial"/>
              </a:rPr>
              <a:t>TRACK</a:t>
            </a:r>
          </a:p>
        </p:txBody>
      </p:sp>
      <p:sp>
        <p:nvSpPr>
          <p:cNvPr id="17435" name="Chevron 17434"/>
          <p:cNvSpPr/>
          <p:nvPr/>
        </p:nvSpPr>
        <p:spPr>
          <a:xfrm>
            <a:off x="8595360" y="3639312"/>
            <a:ext cx="1545336" cy="402336"/>
          </a:xfrm>
          <a:prstGeom prst="chevron">
            <a:avLst>
              <a:gd name="adj" fmla="val 5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860" b="1" i="0">
                <a:solidFill>
                  <a:srgbClr val="FFFFFF"/>
                </a:solidFill>
                <a:latin typeface="Arial"/>
              </a:rPr>
              <a:t>SURVEIL</a:t>
            </a:r>
          </a:p>
        </p:txBody>
      </p:sp>
      <p:sp>
        <p:nvSpPr>
          <p:cNvPr id="17436" name="Chevron 17435"/>
          <p:cNvSpPr/>
          <p:nvPr/>
        </p:nvSpPr>
        <p:spPr>
          <a:xfrm>
            <a:off x="10232136" y="3639312"/>
            <a:ext cx="1545336" cy="402336"/>
          </a:xfrm>
          <a:prstGeom prst="chevron">
            <a:avLst>
              <a:gd name="adj" fmla="val 5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860" b="1" i="0">
                <a:solidFill>
                  <a:srgbClr val="FFFFFF"/>
                </a:solidFill>
                <a:latin typeface="Arial"/>
              </a:rPr>
              <a:t>EARLIER RESPONSE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411480" y="4206240"/>
            <a:ext cx="5554980" cy="292608"/>
          </a:xfrm>
          <a:prstGeom prst="roundRect">
            <a:avLst>
              <a:gd name="adj" fmla="val 50000"/>
            </a:avLst>
          </a:prstGeom>
          <a:solidFill>
            <a:srgbClr val="375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Times New Roman"/>
              </a:rPr>
              <a:t>CURRENT PROTOTYPE CAPABILITIES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411480" y="4535424"/>
            <a:ext cx="5554980" cy="1700784"/>
          </a:xfrm>
          <a:prstGeom prst="roundRect">
            <a:avLst>
              <a:gd name="adj" fmla="val 7000"/>
            </a:avLst>
          </a:prstGeom>
          <a:solidFill>
            <a:srgbClr val="F4F9F1"/>
          </a:solidFill>
          <a:ln w="9525">
            <a:solidFill>
              <a:srgbClr val="5A94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TextBox 17438"/>
          <p:cNvSpPr txBox="1"/>
          <p:nvPr/>
        </p:nvSpPr>
        <p:spPr>
          <a:xfrm>
            <a:off x="594360" y="4535424"/>
            <a:ext cx="5189220" cy="1700784"/>
          </a:xfrm>
          <a:prstGeom prst="rect">
            <a:avLst/>
          </a:prstGeom>
          <a:noFill/>
        </p:spPr>
        <p:txBody>
          <a:bodyPr wrap="square" lIns="9144" tIns="5486" rIns="9144" bIns="548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dirty="0">
                <a:solidFill>
                  <a:srgbClr val="273E1D"/>
                </a:solidFill>
                <a:latin typeface="Arial"/>
              </a:rPr>
              <a:t>✓  Voice symptom reporting in English, Hindi &amp; Telugu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dirty="0">
                <a:solidFill>
                  <a:srgbClr val="273E1D"/>
                </a:solidFill>
                <a:latin typeface="Arial"/>
              </a:rPr>
              <a:t>✓  Rule-based triage with automatic mortality escalation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dirty="0">
                <a:solidFill>
                  <a:srgbClr val="273E1D"/>
                </a:solidFill>
                <a:latin typeface="Arial"/>
              </a:rPr>
              <a:t>✓  Offline reporting queue with background auto-sync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dirty="0">
                <a:solidFill>
                  <a:srgbClr val="273E1D"/>
                </a:solidFill>
                <a:latin typeface="Arial"/>
              </a:rPr>
              <a:t>✓  Role-based dashboards for Farmer / VAS / DVO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dirty="0">
                <a:solidFill>
                  <a:srgbClr val="273E1D"/>
                </a:solidFill>
                <a:latin typeface="Arial"/>
              </a:rPr>
              <a:t>✓  Geospatial district outbreak heatmap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dirty="0">
                <a:solidFill>
                  <a:srgbClr val="273E1D"/>
                </a:solidFill>
                <a:latin typeface="Arial"/>
              </a:rPr>
              <a:t>✓  Native Indian breed database (6 species)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6222492" y="4206240"/>
            <a:ext cx="5554980" cy="292608"/>
          </a:xfrm>
          <a:prstGeom prst="roundRect">
            <a:avLst>
              <a:gd name="adj" fmla="val 50000"/>
            </a:avLst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1" i="0">
                <a:solidFill>
                  <a:srgbClr val="FFFFFF"/>
                </a:solidFill>
                <a:latin typeface="Times New Roman"/>
              </a:rPr>
              <a:t>POTENTIAL SCALE IMPACT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6222492" y="4535424"/>
            <a:ext cx="5554980" cy="1700784"/>
          </a:xfrm>
          <a:prstGeom prst="roundRect">
            <a:avLst>
              <a:gd name="adj" fmla="val 7000"/>
            </a:avLst>
          </a:prstGeom>
          <a:solidFill>
            <a:srgbClr val="D9EDEE"/>
          </a:solidFill>
          <a:ln w="9525">
            <a:solidFill>
              <a:srgbClr val="1F6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2" name="TextBox 17441"/>
          <p:cNvSpPr txBox="1"/>
          <p:nvPr/>
        </p:nvSpPr>
        <p:spPr>
          <a:xfrm>
            <a:off x="6405372" y="4535424"/>
            <a:ext cx="5189220" cy="1700784"/>
          </a:xfrm>
          <a:prstGeom prst="rect">
            <a:avLst/>
          </a:prstGeom>
          <a:noFill/>
        </p:spPr>
        <p:txBody>
          <a:bodyPr wrap="square" lIns="9144" tIns="5486" rIns="9144" bIns="548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dirty="0">
                <a:solidFill>
                  <a:srgbClr val="123C3D"/>
                </a:solidFill>
                <a:latin typeface="Arial"/>
              </a:rPr>
              <a:t>→  Faster farm-to-district reporting chain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dirty="0">
                <a:solidFill>
                  <a:srgbClr val="123C3D"/>
                </a:solidFill>
                <a:latin typeface="Arial"/>
              </a:rPr>
              <a:t>→  Earlier visibility into emerging clusters for authorities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dirty="0">
                <a:solidFill>
                  <a:srgbClr val="123C3D"/>
                </a:solidFill>
                <a:latin typeface="Arial"/>
              </a:rPr>
              <a:t>→  A paperless record per animal that persists across vet visits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dirty="0">
                <a:solidFill>
                  <a:srgbClr val="123C3D"/>
                </a:solidFill>
                <a:latin typeface="Arial"/>
              </a:rPr>
              <a:t>→  Zero-license-cost stack a state department can deploy without new procurement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200" b="0" i="0" dirty="0">
                <a:solidFill>
                  <a:srgbClr val="123C3D"/>
                </a:solidFill>
                <a:latin typeface="Arial"/>
              </a:rPr>
              <a:t>→  Complements top-down systems (e.g. ICAR-NIVEDI's NADRES) with bottom-up, farm-level data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6199632"/>
            <a:ext cx="914400" cy="45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accent5">
                    <a:lumMod val="75000"/>
                  </a:schemeClr>
                </a:solidFill>
                <a:latin typeface="Niagara Solid" panose="04020502070702020202" pitchFamily="82" charset="0"/>
                <a:cs typeface="Aldhabi" panose="020F0502020204030204" pitchFamily="2" charset="-78"/>
              </a:rPr>
              <a:t>ChaoTics</a:t>
            </a:r>
            <a:endParaRPr lang="en-IN" sz="2400" dirty="0">
              <a:solidFill>
                <a:schemeClr val="accent5">
                  <a:lumMod val="75000"/>
                </a:schemeClr>
              </a:solidFill>
              <a:latin typeface="Niagara Solid" panose="04020502070702020202" pitchFamily="82" charset="0"/>
              <a:cs typeface="Aldhabi" panose="020F0502020204030204" pitchFamily="2" charset="-78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411480" y="1152144"/>
            <a:ext cx="3666744" cy="292608"/>
          </a:xfrm>
          <a:prstGeom prst="roundRect">
            <a:avLst>
              <a:gd name="adj" fmla="val 50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01   GOVERNMENT / POLICY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481328"/>
            <a:ext cx="3666744" cy="2066544"/>
          </a:xfrm>
          <a:prstGeom prst="roundRect">
            <a:avLst>
              <a:gd name="adj" fmla="val 6000"/>
            </a:avLst>
          </a:prstGeom>
          <a:solidFill>
            <a:srgbClr val="F7F6F4"/>
          </a:solidFill>
          <a:ln w="9525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557784" y="1481328"/>
            <a:ext cx="3374136" cy="1993392"/>
          </a:xfrm>
          <a:prstGeom prst="rect">
            <a:avLst/>
          </a:prstGeom>
          <a:noFill/>
        </p:spPr>
        <p:txBody>
          <a:bodyPr wrap="square" lIns="9144" tIns="5486" rIns="9144" bIns="548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IN" sz="1100" b="1" dirty="0">
                <a:solidFill>
                  <a:srgbClr val="2B2925"/>
                </a:solidFill>
                <a:latin typeface="Arial"/>
              </a:rPr>
              <a:t>National Animal Disease Control Programme (NADCP) —  </a:t>
            </a:r>
            <a:r>
              <a:rPr lang="en-IN" sz="1100" b="0" dirty="0">
                <a:solidFill>
                  <a:srgbClr val="686259"/>
                </a:solidFill>
                <a:latin typeface="Arial"/>
              </a:rPr>
              <a:t>Dept. of Animal Husbandry &amp; Dairying, </a:t>
            </a:r>
            <a:r>
              <a:rPr lang="en-IN" sz="1100" b="0" dirty="0" err="1">
                <a:solidFill>
                  <a:srgbClr val="686259"/>
                </a:solidFill>
                <a:latin typeface="Arial"/>
              </a:rPr>
              <a:t>GoI</a:t>
            </a:r>
            <a:r>
              <a:rPr lang="en-IN" sz="1100" b="0" dirty="0">
                <a:solidFill>
                  <a:srgbClr val="686259"/>
                </a:solidFill>
                <a:latin typeface="Arial"/>
              </a:rPr>
              <a:t> — dahd.gov.in/schemes/programmes/</a:t>
            </a:r>
            <a:r>
              <a:rPr lang="en-IN" sz="1100" b="0" dirty="0" err="1">
                <a:solidFill>
                  <a:srgbClr val="686259"/>
                </a:solidFill>
                <a:latin typeface="Arial"/>
              </a:rPr>
              <a:t>nadcp</a:t>
            </a:r>
            <a:endParaRPr lang="en-IN" sz="1100" b="0" dirty="0">
              <a:solidFill>
                <a:srgbClr val="686259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IN" sz="1100" b="1" dirty="0">
                <a:solidFill>
                  <a:srgbClr val="2B2925"/>
                </a:solidFill>
                <a:latin typeface="Arial"/>
              </a:rPr>
              <a:t>20th Livestock Census 2019, All-India Report —  </a:t>
            </a:r>
            <a:r>
              <a:rPr lang="en-IN" sz="1100" b="0" dirty="0">
                <a:solidFill>
                  <a:srgbClr val="686259"/>
                </a:solidFill>
                <a:latin typeface="Arial"/>
              </a:rPr>
              <a:t>Dept. of Animal Husbandry &amp; Dairying, </a:t>
            </a:r>
            <a:r>
              <a:rPr lang="en-IN" sz="1100" b="0" dirty="0" err="1">
                <a:solidFill>
                  <a:srgbClr val="686259"/>
                </a:solidFill>
                <a:latin typeface="Arial"/>
              </a:rPr>
              <a:t>GoI</a:t>
            </a:r>
            <a:r>
              <a:rPr lang="en-IN" sz="1100" b="0" dirty="0">
                <a:solidFill>
                  <a:srgbClr val="686259"/>
                </a:solidFill>
                <a:latin typeface="Arial"/>
              </a:rPr>
              <a:t> — 535.78 million livestock nationwide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IN" sz="1100" b="1" dirty="0">
                <a:solidFill>
                  <a:srgbClr val="2B2925"/>
                </a:solidFill>
                <a:latin typeface="Arial"/>
              </a:rPr>
              <a:t>Problem Statement 26128 —  </a:t>
            </a:r>
            <a:r>
              <a:rPr lang="en-IN" sz="1100" b="0" dirty="0">
                <a:solidFill>
                  <a:srgbClr val="686259"/>
                </a:solidFill>
                <a:latin typeface="Arial"/>
              </a:rPr>
              <a:t>Govt. of Maharashtra, Maharashtra State Innovation Society (</a:t>
            </a:r>
            <a:r>
              <a:rPr lang="en-IN" sz="1100" b="0" dirty="0" err="1">
                <a:solidFill>
                  <a:srgbClr val="686259"/>
                </a:solidFill>
                <a:latin typeface="Arial"/>
              </a:rPr>
              <a:t>MSInS</a:t>
            </a:r>
            <a:r>
              <a:rPr lang="en-IN" sz="1100" b="0" dirty="0">
                <a:solidFill>
                  <a:srgbClr val="686259"/>
                </a:solidFill>
                <a:latin typeface="Arial"/>
              </a:rPr>
              <a:t>)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61104" y="1152144"/>
            <a:ext cx="3666744" cy="292608"/>
          </a:xfrm>
          <a:prstGeom prst="roundRect">
            <a:avLst>
              <a:gd name="adj" fmla="val 50000"/>
            </a:avLst>
          </a:prstGeom>
          <a:solidFill>
            <a:srgbClr val="375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02   DISEASE SURVEILLANCE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261104" y="1481328"/>
            <a:ext cx="3666744" cy="2066544"/>
          </a:xfrm>
          <a:prstGeom prst="roundRect">
            <a:avLst>
              <a:gd name="adj" fmla="val 6000"/>
            </a:avLst>
          </a:prstGeom>
          <a:solidFill>
            <a:srgbClr val="F7F6F4"/>
          </a:solidFill>
          <a:ln w="9525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4407408" y="1481328"/>
            <a:ext cx="3374136" cy="1993392"/>
          </a:xfrm>
          <a:prstGeom prst="rect">
            <a:avLst/>
          </a:prstGeom>
          <a:noFill/>
        </p:spPr>
        <p:txBody>
          <a:bodyPr wrap="square" lIns="9144" tIns="5486" rIns="9144" bIns="548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100" b="1" dirty="0">
                <a:solidFill>
                  <a:srgbClr val="2B2925"/>
                </a:solidFill>
                <a:latin typeface="Arial"/>
              </a:rPr>
              <a:t>NADRES (v2/v3) —  </a:t>
            </a:r>
            <a:r>
              <a:rPr sz="1100" b="0" dirty="0">
                <a:solidFill>
                  <a:srgbClr val="686259"/>
                </a:solidFill>
                <a:latin typeface="Arial"/>
              </a:rPr>
              <a:t>ICAR-NIVEDI — AI-driven district-level forewarning for 15 diseases — nivedi.res.in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100" b="1" dirty="0">
                <a:solidFill>
                  <a:srgbClr val="2B2925"/>
                </a:solidFill>
                <a:latin typeface="Arial"/>
              </a:rPr>
              <a:t>Govindaraj et al. (2021) —  </a:t>
            </a:r>
            <a:r>
              <a:rPr sz="1100" b="0" dirty="0">
                <a:solidFill>
                  <a:srgbClr val="686259"/>
                </a:solidFill>
                <a:latin typeface="Arial"/>
              </a:rPr>
              <a:t>Economic impact of FMD in cattle &amp; buffaloes in India — Prev. Vet. Med. 190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100" b="1" dirty="0">
                <a:solidFill>
                  <a:srgbClr val="2B2925"/>
                </a:solidFill>
                <a:latin typeface="Arial"/>
              </a:rPr>
              <a:t>Naidu et al. (2025) —  </a:t>
            </a:r>
            <a:r>
              <a:rPr sz="1100" b="0" dirty="0">
                <a:solidFill>
                  <a:srgbClr val="686259"/>
                </a:solidFill>
                <a:latin typeface="Arial"/>
              </a:rPr>
              <a:t>Economic burden of Lumpy Skin Disease in India — Scientific Reports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110728" y="1152144"/>
            <a:ext cx="3666744" cy="292608"/>
          </a:xfrm>
          <a:prstGeom prst="roundRect">
            <a:avLst>
              <a:gd name="adj" fmla="val 50000"/>
            </a:avLst>
          </a:prstGeom>
          <a:solidFill>
            <a:srgbClr val="CC6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03   SCIENTIFIC / INSTITUTIONAL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110728" y="1481328"/>
            <a:ext cx="3666744" cy="2066544"/>
          </a:xfrm>
          <a:prstGeom prst="roundRect">
            <a:avLst>
              <a:gd name="adj" fmla="val 6000"/>
            </a:avLst>
          </a:prstGeom>
          <a:solidFill>
            <a:srgbClr val="F7F6F4"/>
          </a:solidFill>
          <a:ln w="9525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TextBox 17418"/>
          <p:cNvSpPr txBox="1"/>
          <p:nvPr/>
        </p:nvSpPr>
        <p:spPr>
          <a:xfrm>
            <a:off x="8257032" y="1481328"/>
            <a:ext cx="3374136" cy="1993392"/>
          </a:xfrm>
          <a:prstGeom prst="rect">
            <a:avLst/>
          </a:prstGeom>
          <a:noFill/>
        </p:spPr>
        <p:txBody>
          <a:bodyPr wrap="square" lIns="9144" tIns="5486" rIns="9144" bIns="548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100" b="1" dirty="0">
                <a:solidFill>
                  <a:srgbClr val="2B2925"/>
                </a:solidFill>
                <a:latin typeface="Arial"/>
              </a:rPr>
              <a:t>Singh et al. (2022) —  </a:t>
            </a:r>
            <a:r>
              <a:rPr sz="1100" b="0" dirty="0">
                <a:solidFill>
                  <a:srgbClr val="686259"/>
                </a:solidFill>
                <a:latin typeface="Arial"/>
              </a:rPr>
              <a:t>FMD status in India, 2011–2020 — PMC / Indian J. </a:t>
            </a:r>
            <a:r>
              <a:rPr sz="1100" b="0" dirty="0" err="1">
                <a:solidFill>
                  <a:srgbClr val="686259"/>
                </a:solidFill>
                <a:latin typeface="Arial"/>
              </a:rPr>
              <a:t>Microbiol</a:t>
            </a:r>
            <a:r>
              <a:rPr sz="1100" b="0" dirty="0">
                <a:solidFill>
                  <a:srgbClr val="686259"/>
                </a:solidFill>
                <a:latin typeface="Arial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100" b="1" dirty="0">
                <a:solidFill>
                  <a:srgbClr val="2B2925"/>
                </a:solidFill>
                <a:latin typeface="Arial"/>
              </a:rPr>
              <a:t>Rout et al. —  </a:t>
            </a:r>
            <a:r>
              <a:rPr sz="1100" b="0" dirty="0">
                <a:solidFill>
                  <a:srgbClr val="686259"/>
                </a:solidFill>
                <a:latin typeface="Arial"/>
              </a:rPr>
              <a:t>Animal disease surveillance: importance &amp; present status in India — Indian J. Med. Res.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11480" y="3712463"/>
            <a:ext cx="5591556" cy="292608"/>
          </a:xfrm>
          <a:prstGeom prst="roundRect">
            <a:avLst>
              <a:gd name="adj" fmla="val 50000"/>
            </a:avLst>
          </a:prstGeom>
          <a:solidFill>
            <a:srgbClr val="1F6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04   TECHNOLOGY DOCUMENTATION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11480" y="4041648"/>
            <a:ext cx="5591556" cy="2194560"/>
          </a:xfrm>
          <a:prstGeom prst="roundRect">
            <a:avLst>
              <a:gd name="adj" fmla="val 6000"/>
            </a:avLst>
          </a:prstGeom>
          <a:solidFill>
            <a:srgbClr val="F7F6F4"/>
          </a:solidFill>
          <a:ln w="9525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557784" y="4041648"/>
            <a:ext cx="5298948" cy="2121408"/>
          </a:xfrm>
          <a:prstGeom prst="rect">
            <a:avLst/>
          </a:prstGeom>
          <a:noFill/>
        </p:spPr>
        <p:txBody>
          <a:bodyPr wrap="square" lIns="9144" tIns="5486" rIns="9144" bIns="548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00" b="1" dirty="0">
                <a:solidFill>
                  <a:srgbClr val="2B2925"/>
                </a:solidFill>
                <a:latin typeface="Arial"/>
              </a:rPr>
              <a:t>React 18 —  </a:t>
            </a:r>
            <a:r>
              <a:rPr sz="1200" b="0" dirty="0" err="1">
                <a:solidFill>
                  <a:srgbClr val="686259"/>
                </a:solidFill>
                <a:latin typeface="Arial"/>
              </a:rPr>
              <a:t>react.dev</a:t>
            </a:r>
            <a:endParaRPr sz="1200" b="0" dirty="0">
              <a:solidFill>
                <a:srgbClr val="686259"/>
              </a:solidFill>
              <a:latin typeface="Arial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00" b="1" dirty="0">
                <a:solidFill>
                  <a:srgbClr val="2B2925"/>
                </a:solidFill>
                <a:latin typeface="Arial"/>
              </a:rPr>
              <a:t>TypeScript 5 —  </a:t>
            </a:r>
            <a:r>
              <a:rPr sz="1200" b="0" dirty="0">
                <a:solidFill>
                  <a:srgbClr val="686259"/>
                </a:solidFill>
                <a:latin typeface="Arial"/>
              </a:rPr>
              <a:t>typescriptlang.org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00" b="1" dirty="0">
                <a:solidFill>
                  <a:srgbClr val="2B2925"/>
                </a:solidFill>
                <a:latin typeface="Arial"/>
              </a:rPr>
              <a:t>Vite 5 &amp; Tailwind CSS —  </a:t>
            </a:r>
            <a:r>
              <a:rPr sz="1200" b="0" dirty="0" err="1">
                <a:solidFill>
                  <a:srgbClr val="686259"/>
                </a:solidFill>
                <a:latin typeface="Arial"/>
              </a:rPr>
              <a:t>vitejs.dev</a:t>
            </a:r>
            <a:r>
              <a:rPr sz="1200" b="0" dirty="0">
                <a:solidFill>
                  <a:srgbClr val="686259"/>
                </a:solidFill>
                <a:latin typeface="Arial"/>
              </a:rPr>
              <a:t>  ·  tailwindcss.com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00" b="1" dirty="0" err="1">
                <a:solidFill>
                  <a:srgbClr val="2B2925"/>
                </a:solidFill>
                <a:latin typeface="Arial"/>
              </a:rPr>
              <a:t>Supabase</a:t>
            </a:r>
            <a:r>
              <a:rPr sz="1200" b="1" dirty="0">
                <a:solidFill>
                  <a:srgbClr val="2B2925"/>
                </a:solidFill>
                <a:latin typeface="Arial"/>
              </a:rPr>
              <a:t> (Auth, Postgres, RLS, Edge Functions) —  </a:t>
            </a:r>
            <a:r>
              <a:rPr sz="1200" b="0" dirty="0">
                <a:solidFill>
                  <a:srgbClr val="686259"/>
                </a:solidFill>
                <a:latin typeface="Arial"/>
              </a:rPr>
              <a:t>supabase.com/docs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00" b="1" dirty="0">
                <a:solidFill>
                  <a:srgbClr val="2B2925"/>
                </a:solidFill>
                <a:latin typeface="Arial"/>
              </a:rPr>
              <a:t>Web Speech API &amp; </a:t>
            </a:r>
            <a:r>
              <a:rPr sz="1200" b="1" dirty="0" err="1">
                <a:solidFill>
                  <a:srgbClr val="2B2925"/>
                </a:solidFill>
                <a:latin typeface="Arial"/>
              </a:rPr>
              <a:t>IndexedDB</a:t>
            </a:r>
            <a:r>
              <a:rPr sz="1200" b="1" dirty="0">
                <a:solidFill>
                  <a:srgbClr val="2B2925"/>
                </a:solidFill>
                <a:latin typeface="Arial"/>
              </a:rPr>
              <a:t> —  </a:t>
            </a:r>
            <a:r>
              <a:rPr sz="1200" b="0" dirty="0">
                <a:solidFill>
                  <a:srgbClr val="686259"/>
                </a:solidFill>
                <a:latin typeface="Arial"/>
              </a:rPr>
              <a:t>MDN Web Docs — developer.mozilla.org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185916" y="3712463"/>
            <a:ext cx="5591556" cy="292608"/>
          </a:xfrm>
          <a:prstGeom prst="roundRect">
            <a:avLst>
              <a:gd name="adj" fmla="val 50000"/>
            </a:avLst>
          </a:prstGeom>
          <a:solidFill>
            <a:srgbClr val="524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0972" rIns="18288" bIns="10972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05   MAPPING / WEB / INFRASTRUCTURE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185916" y="4041648"/>
            <a:ext cx="5591556" cy="2194560"/>
          </a:xfrm>
          <a:prstGeom prst="roundRect">
            <a:avLst>
              <a:gd name="adj" fmla="val 6000"/>
            </a:avLst>
          </a:prstGeom>
          <a:solidFill>
            <a:srgbClr val="F7F6F4"/>
          </a:solidFill>
          <a:ln w="9525">
            <a:solidFill>
              <a:srgbClr val="DAD6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6332220" y="4041648"/>
            <a:ext cx="5591556" cy="2121408"/>
          </a:xfrm>
          <a:prstGeom prst="rect">
            <a:avLst/>
          </a:prstGeom>
          <a:noFill/>
        </p:spPr>
        <p:txBody>
          <a:bodyPr wrap="square" lIns="9144" tIns="5486" rIns="9144" bIns="548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00" b="1" dirty="0">
                <a:solidFill>
                  <a:srgbClr val="2B2925"/>
                </a:solidFill>
                <a:latin typeface="Arial"/>
              </a:rPr>
              <a:t>Leaflet &amp; React-Leaflet —  </a:t>
            </a:r>
            <a:r>
              <a:rPr sz="1200" b="0" dirty="0">
                <a:solidFill>
                  <a:srgbClr val="686259"/>
                </a:solidFill>
                <a:latin typeface="Arial"/>
              </a:rPr>
              <a:t>leafletjs.com  ·  react-leaflet.js.org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00" b="1" dirty="0">
                <a:solidFill>
                  <a:srgbClr val="2B2925"/>
                </a:solidFill>
                <a:latin typeface="Arial"/>
              </a:rPr>
              <a:t>Netlify Edge CDN —  </a:t>
            </a:r>
            <a:r>
              <a:rPr sz="1200" b="0" dirty="0">
                <a:solidFill>
                  <a:srgbClr val="686259"/>
                </a:solidFill>
                <a:latin typeface="Arial"/>
              </a:rPr>
              <a:t>netlify.com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200" b="1" dirty="0">
                <a:solidFill>
                  <a:srgbClr val="2B2925"/>
                </a:solidFill>
                <a:latin typeface="Arial"/>
              </a:rPr>
              <a:t>Project repository —  </a:t>
            </a:r>
            <a:r>
              <a:rPr sz="1200" b="0" dirty="0">
                <a:solidFill>
                  <a:srgbClr val="686259"/>
                </a:solidFill>
                <a:latin typeface="Arial"/>
              </a:rPr>
              <a:t>github.com/</a:t>
            </a:r>
            <a:r>
              <a:rPr sz="1200" b="0" dirty="0" err="1">
                <a:solidFill>
                  <a:srgbClr val="686259"/>
                </a:solidFill>
                <a:latin typeface="Arial"/>
              </a:rPr>
              <a:t>GavaraNeha</a:t>
            </a:r>
            <a:r>
              <a:rPr sz="1200" b="0" dirty="0">
                <a:solidFill>
                  <a:srgbClr val="686259"/>
                </a:solidFill>
                <a:latin typeface="Arial"/>
              </a:rPr>
              <a:t>/</a:t>
            </a:r>
            <a:r>
              <a:rPr sz="1200" b="0" dirty="0" err="1">
                <a:solidFill>
                  <a:srgbClr val="686259"/>
                </a:solidFill>
                <a:latin typeface="Arial"/>
              </a:rPr>
              <a:t>JeevSetu_SIH</a:t>
            </a:r>
            <a:endParaRPr sz="1200" b="0" dirty="0">
              <a:solidFill>
                <a:srgbClr val="686259"/>
              </a:solidFill>
              <a:latin typeface="Arial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dirty="0">
                <a:solidFill>
                  <a:srgbClr val="2B2925"/>
                </a:solidFill>
                <a:latin typeface="Arial"/>
              </a:rPr>
              <a:t>Live prototype —  </a:t>
            </a:r>
            <a:r>
              <a:rPr sz="1200" b="0" dirty="0">
                <a:solidFill>
                  <a:srgbClr val="686259"/>
                </a:solidFill>
                <a:latin typeface="Arial"/>
              </a:rPr>
              <a:t>deployed build on </a:t>
            </a:r>
            <a:r>
              <a:rPr sz="1200" b="0" dirty="0" err="1">
                <a:solidFill>
                  <a:srgbClr val="686259"/>
                </a:solidFill>
                <a:latin typeface="Arial"/>
              </a:rPr>
              <a:t>Netlif</a:t>
            </a:r>
            <a:r>
              <a:rPr lang="en-IN" sz="1200" dirty="0">
                <a:solidFill>
                  <a:srgbClr val="686259"/>
                </a:solidFill>
                <a:latin typeface="Arial"/>
              </a:rPr>
              <a:t>y</a:t>
            </a:r>
            <a:br>
              <a:rPr lang="en-IN" sz="1200" dirty="0">
                <a:solidFill>
                  <a:srgbClr val="686259"/>
                </a:solidFill>
                <a:latin typeface="Arial"/>
              </a:rPr>
            </a:br>
            <a:r>
              <a:rPr lang="en-IN" sz="1200" dirty="0">
                <a:solidFill>
                  <a:srgbClr val="686259"/>
                </a:solidFill>
                <a:latin typeface="Arial"/>
              </a:rPr>
              <a:t>  </a:t>
            </a:r>
            <a:br>
              <a:rPr lang="en-IN" sz="1200" dirty="0">
                <a:solidFill>
                  <a:srgbClr val="686259"/>
                </a:solidFill>
                <a:latin typeface="Arial"/>
              </a:rPr>
            </a:br>
            <a:r>
              <a:rPr lang="en-IN" sz="1200" dirty="0">
                <a:solidFill>
                  <a:srgbClr val="686259"/>
                </a:solidFill>
                <a:latin typeface="Arial"/>
              </a:rPr>
              <a:t>(https://6a95aa3455b4ec489d920721--remarkable-palmier-2eaa81.netlify.app/)</a:t>
            </a:r>
            <a:endParaRPr sz="1200" b="0" dirty="0">
              <a:solidFill>
                <a:srgbClr val="686259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7550</TotalTime>
  <Words>1286</Words>
  <Application>Microsoft Office PowerPoint</Application>
  <PresentationFormat>Widescreen</PresentationFormat>
  <Paragraphs>200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Niagara Solid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Neha GAVARA</cp:lastModifiedBy>
  <cp:revision>149</cp:revision>
  <dcterms:created xsi:type="dcterms:W3CDTF">2013-12-12T18:46:50Z</dcterms:created>
  <dcterms:modified xsi:type="dcterms:W3CDTF">2026-09-01T03:16:09Z</dcterms:modified>
  <cp:category/>
</cp:coreProperties>
</file>